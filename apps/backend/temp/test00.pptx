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6" r:id="rId3"/>
    <p:sldId id="516" r:id="rId4"/>
    <p:sldId id="517" r:id="rId5"/>
    <p:sldId id="521" r:id="rId6"/>
    <p:sldId id="518" r:id="rId7"/>
    <p:sldId id="519" r:id="rId8"/>
    <p:sldId id="522" r:id="rId9"/>
    <p:sldId id="523" r:id="rId10"/>
    <p:sldId id="520" r:id="rId11"/>
    <p:sldId id="524" r:id="rId12"/>
    <p:sldId id="525" r:id="rId13"/>
    <p:sldId id="527" r:id="rId14"/>
    <p:sldId id="52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B573B-FB55-410A-8E85-9BCDD6D53632}" v="66" dt="2022-06-13T14:04:06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7/7/2022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D92ED-E6C4-4A84-AB38-4407B5756187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A483D-857F-4001-A417-1D662BE65C9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7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8362249" y="2450690"/>
            <a:ext cx="3048006" cy="19566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GB" dirty="0">
                <a:latin typeface="Eras Demi ITC" panose="020B0805030504020804" pitchFamily="34" charset="0"/>
              </a:rPr>
            </a:br>
            <a:r>
              <a:rPr lang="en-GB" sz="1200" dirty="0">
                <a:latin typeface="Eras Demi ITC" panose="020B0805030504020804" pitchFamily="34" charset="0"/>
              </a:rPr>
              <a:t>Powered by </a:t>
            </a:r>
          </a:p>
        </p:txBody>
      </p:sp>
      <p:pic>
        <p:nvPicPr>
          <p:cNvPr id="8" name="Picture 7" descr="A picture containing text, clipart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47" y="3952112"/>
            <a:ext cx="3048006" cy="420625"/>
          </a:xfrm>
          <a:prstGeom prst="rect">
            <a:avLst/>
          </a:prstGeom>
        </p:spPr>
      </p:pic>
      <p:sp>
        <p:nvSpPr>
          <p:cNvPr id="10" name="Subtitle 2"/>
          <p:cNvSpPr txBox="1"/>
          <p:nvPr/>
        </p:nvSpPr>
        <p:spPr>
          <a:xfrm>
            <a:off x="1615828" y="1511549"/>
            <a:ext cx="10354809" cy="904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735" b="0" i="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609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73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4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80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  <a:latin typeface="Eras Medium ITC" panose="020B0602030504020804" pitchFamily="34" charset="0"/>
              </a:rPr>
              <a:t>Get digitally optimised</a:t>
            </a:r>
          </a:p>
        </p:txBody>
      </p:sp>
      <p:pic>
        <p:nvPicPr>
          <p:cNvPr id="3" name="Picture 2" descr="Logo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896" y="2450690"/>
            <a:ext cx="1698712" cy="1152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sz="7700" dirty="0">
                <a:latin typeface="Eras Medium ITC" panose="020B0602030504020804" pitchFamily="34" charset="0"/>
              </a:rPr>
              <a:t>Inventory Management</a:t>
            </a:r>
            <a:endParaRPr lang="en-GB" sz="7700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C7DBE9-3238-B398-0B4A-B4FA3EC436DB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pic>
        <p:nvPicPr>
          <p:cNvPr id="8" name="Graphic 7" title="callout">
            <a:extLst>
              <a:ext uri="{FF2B5EF4-FFF2-40B4-BE49-F238E27FC236}">
                <a16:creationId xmlns:a16="http://schemas.microsoft.com/office/drawing/2014/main" id="{AD99A2AA-79C2-E932-64BE-E48B54C400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10" name="Graphic 9" title="callout">
            <a:extLst>
              <a:ext uri="{FF2B5EF4-FFF2-40B4-BE49-F238E27FC236}">
                <a16:creationId xmlns:a16="http://schemas.microsoft.com/office/drawing/2014/main" id="{83F24512-951A-2B24-61A3-8A047C73F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54F803-F2D6-24A6-8903-FA028316579A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91F291-7099-8840-16E6-7096492555ED}"/>
              </a:ext>
            </a:extLst>
          </p:cNvPr>
          <p:cNvSpPr txBox="1"/>
          <p:nvPr/>
        </p:nvSpPr>
        <p:spPr>
          <a:xfrm>
            <a:off x="3393957" y="4316039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Centralised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Register</a:t>
            </a:r>
          </a:p>
        </p:txBody>
      </p:sp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8716E2AC-DC6B-52D7-A03C-007AB9AA3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8784" y="3926541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DF59C9-4672-B8C7-B1CB-3A8823EFE1B5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D70C59EB-2382-725F-59F8-DEB5D747C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01093" y="3910901"/>
            <a:ext cx="581025" cy="295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A6CFDD-D362-52DB-5673-EA84CDAD728E}"/>
              </a:ext>
            </a:extLst>
          </p:cNvPr>
          <p:cNvSpPr txBox="1"/>
          <p:nvPr/>
        </p:nvSpPr>
        <p:spPr>
          <a:xfrm>
            <a:off x="5983948" y="2099535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Visibility of costs</a:t>
            </a:r>
          </a:p>
        </p:txBody>
      </p:sp>
      <p:pic>
        <p:nvPicPr>
          <p:cNvPr id="17" name="Graphic 16" title="callout">
            <a:extLst>
              <a:ext uri="{FF2B5EF4-FFF2-40B4-BE49-F238E27FC236}">
                <a16:creationId xmlns:a16="http://schemas.microsoft.com/office/drawing/2014/main" id="{D5DDE5B8-A7EB-308C-2BD3-0A9324B79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F56ABF-6F41-0497-6548-B68EDCA7DC16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22938-2984-867A-81BF-11A642E52A1C}"/>
              </a:ext>
            </a:extLst>
          </p:cNvPr>
          <p:cNvSpPr txBox="1"/>
          <p:nvPr/>
        </p:nvSpPr>
        <p:spPr>
          <a:xfrm>
            <a:off x="9888918" y="2162994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Audits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42EA9232-3E67-F0ED-492F-91CBF9305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847464B-28DA-CCE8-4775-27351E9C9CA2}"/>
              </a:ext>
            </a:extLst>
          </p:cNvPr>
          <p:cNvSpPr txBox="1"/>
          <p:nvPr/>
        </p:nvSpPr>
        <p:spPr>
          <a:xfrm>
            <a:off x="8551304" y="218618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 asset</a:t>
            </a:r>
          </a:p>
        </p:txBody>
      </p:sp>
      <p:pic>
        <p:nvPicPr>
          <p:cNvPr id="22" name="Graphic 21" title="callout">
            <a:extLst>
              <a:ext uri="{FF2B5EF4-FFF2-40B4-BE49-F238E27FC236}">
                <a16:creationId xmlns:a16="http://schemas.microsoft.com/office/drawing/2014/main" id="{095F85F7-F494-1614-1254-12EB6C6DD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6" name="Graphic 25" title="callout">
            <a:extLst>
              <a:ext uri="{FF2B5EF4-FFF2-40B4-BE49-F238E27FC236}">
                <a16:creationId xmlns:a16="http://schemas.microsoft.com/office/drawing/2014/main" id="{BAB8B4DE-9F22-784E-A5F1-D07785E99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grpSp>
        <p:nvGrpSpPr>
          <p:cNvPr id="27" name="Group 26" title="Year 4">
            <a:extLst>
              <a:ext uri="{FF2B5EF4-FFF2-40B4-BE49-F238E27FC236}">
                <a16:creationId xmlns:a16="http://schemas.microsoft.com/office/drawing/2014/main" id="{EF4084A3-2587-7F88-8C0D-B305A38E448C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28" name="Straight Connector 27" title="Q lines">
              <a:extLst>
                <a:ext uri="{FF2B5EF4-FFF2-40B4-BE49-F238E27FC236}">
                  <a16:creationId xmlns:a16="http://schemas.microsoft.com/office/drawing/2014/main" id="{FF87C1AA-4104-BBF5-84B8-3BDDC2726D41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title="Q lines">
              <a:extLst>
                <a:ext uri="{FF2B5EF4-FFF2-40B4-BE49-F238E27FC236}">
                  <a16:creationId xmlns:a16="http://schemas.microsoft.com/office/drawing/2014/main" id="{53144568-05F8-0394-0A7B-8DB05DA5CE5B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row: Right 29" title="Year Arrow">
              <a:extLst>
                <a:ext uri="{FF2B5EF4-FFF2-40B4-BE49-F238E27FC236}">
                  <a16:creationId xmlns:a16="http://schemas.microsoft.com/office/drawing/2014/main" id="{B8972081-5EC9-B079-BB0E-3E985DB56A33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31" name="Straight Connector 30" title="Q lines">
              <a:extLst>
                <a:ext uri="{FF2B5EF4-FFF2-40B4-BE49-F238E27FC236}">
                  <a16:creationId xmlns:a16="http://schemas.microsoft.com/office/drawing/2014/main" id="{E34DF881-6C46-88E6-F019-9435277DD7B3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title="Q lines">
              <a:extLst>
                <a:ext uri="{FF2B5EF4-FFF2-40B4-BE49-F238E27FC236}">
                  <a16:creationId xmlns:a16="http://schemas.microsoft.com/office/drawing/2014/main" id="{D7184694-2EB5-55A7-860E-42B66A929EA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 title="Year 3">
            <a:extLst>
              <a:ext uri="{FF2B5EF4-FFF2-40B4-BE49-F238E27FC236}">
                <a16:creationId xmlns:a16="http://schemas.microsoft.com/office/drawing/2014/main" id="{8D6FF914-1E90-D180-0734-C931DBB1EBB4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34" name="Straight Connector 33" title="Q lines">
              <a:extLst>
                <a:ext uri="{FF2B5EF4-FFF2-40B4-BE49-F238E27FC236}">
                  <a16:creationId xmlns:a16="http://schemas.microsoft.com/office/drawing/2014/main" id="{AE45D04E-AEA0-001B-E0BF-76677C10D329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row: Right 34" title="Year Arrow">
              <a:extLst>
                <a:ext uri="{FF2B5EF4-FFF2-40B4-BE49-F238E27FC236}">
                  <a16:creationId xmlns:a16="http://schemas.microsoft.com/office/drawing/2014/main" id="{738B3805-4E36-7D41-5768-39CA2FE03166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36" name="Straight Connector 35" title="Q lines">
              <a:extLst>
                <a:ext uri="{FF2B5EF4-FFF2-40B4-BE49-F238E27FC236}">
                  <a16:creationId xmlns:a16="http://schemas.microsoft.com/office/drawing/2014/main" id="{B2DF5F15-3E63-B5FC-8E18-307905216B29}"/>
                </a:ext>
              </a:extLst>
            </p:cNvPr>
            <p:cNvCxnSpPr>
              <a:cxnSpLocks/>
            </p:cNvCxnSpPr>
            <p:nvPr/>
          </p:nvCxnSpPr>
          <p:spPr>
            <a:xfrm>
              <a:off x="8402583" y="3119046"/>
              <a:ext cx="0" cy="165471"/>
            </a:xfrm>
            <a:prstGeom prst="line">
              <a:avLst/>
            </a:prstGeom>
            <a:grpFill/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title="Q lines">
              <a:extLst>
                <a:ext uri="{FF2B5EF4-FFF2-40B4-BE49-F238E27FC236}">
                  <a16:creationId xmlns:a16="http://schemas.microsoft.com/office/drawing/2014/main" id="{2AA4F47A-8290-A422-39A3-DABCE897BEBA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title="Q lines">
              <a:extLst>
                <a:ext uri="{FF2B5EF4-FFF2-40B4-BE49-F238E27FC236}">
                  <a16:creationId xmlns:a16="http://schemas.microsoft.com/office/drawing/2014/main" id="{AAEE4D31-AF7F-6735-A0CA-32B65610869F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 title="Year 2">
            <a:extLst>
              <a:ext uri="{FF2B5EF4-FFF2-40B4-BE49-F238E27FC236}">
                <a16:creationId xmlns:a16="http://schemas.microsoft.com/office/drawing/2014/main" id="{828D1BBE-9652-B691-4D26-D105F5836F9E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40" name="Arrow: Right 39" title="Year Arrow">
              <a:extLst>
                <a:ext uri="{FF2B5EF4-FFF2-40B4-BE49-F238E27FC236}">
                  <a16:creationId xmlns:a16="http://schemas.microsoft.com/office/drawing/2014/main" id="{BCAE8AB0-D55A-EC14-11A6-37AB497A547D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41" name="Straight Connector 40" title="Q lines">
              <a:extLst>
                <a:ext uri="{FF2B5EF4-FFF2-40B4-BE49-F238E27FC236}">
                  <a16:creationId xmlns:a16="http://schemas.microsoft.com/office/drawing/2014/main" id="{E9C0C818-B5B9-90F0-35C2-56EB9618BC97}"/>
                </a:ext>
              </a:extLst>
            </p:cNvPr>
            <p:cNvCxnSpPr>
              <a:cxnSpLocks/>
            </p:cNvCxnSpPr>
            <p:nvPr/>
          </p:nvCxnSpPr>
          <p:spPr>
            <a:xfrm>
              <a:off x="5771069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title="Q lines">
              <a:extLst>
                <a:ext uri="{FF2B5EF4-FFF2-40B4-BE49-F238E27FC236}">
                  <a16:creationId xmlns:a16="http://schemas.microsoft.com/office/drawing/2014/main" id="{ABF49D4B-2AB4-74A4-3950-69BB3859D158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title="Q lines">
              <a:extLst>
                <a:ext uri="{FF2B5EF4-FFF2-40B4-BE49-F238E27FC236}">
                  <a16:creationId xmlns:a16="http://schemas.microsoft.com/office/drawing/2014/main" id="{9BA2C116-2C3F-6730-D21F-49C6EE91C140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title="Q lines">
              <a:extLst>
                <a:ext uri="{FF2B5EF4-FFF2-40B4-BE49-F238E27FC236}">
                  <a16:creationId xmlns:a16="http://schemas.microsoft.com/office/drawing/2014/main" id="{D77AD0D1-BEDA-9259-7A52-B3F57BFCD714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 title="Year 1">
            <a:extLst>
              <a:ext uri="{FF2B5EF4-FFF2-40B4-BE49-F238E27FC236}">
                <a16:creationId xmlns:a16="http://schemas.microsoft.com/office/drawing/2014/main" id="{F4B3AEC5-89EC-BB29-A772-DEE34162DF26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46" name="Straight Connector 45" title="Q lines">
              <a:extLst>
                <a:ext uri="{FF2B5EF4-FFF2-40B4-BE49-F238E27FC236}">
                  <a16:creationId xmlns:a16="http://schemas.microsoft.com/office/drawing/2014/main" id="{E07F8637-07B4-D6F0-8E53-A644D880D217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row: Right 46" title="Year Arrow">
              <a:extLst>
                <a:ext uri="{FF2B5EF4-FFF2-40B4-BE49-F238E27FC236}">
                  <a16:creationId xmlns:a16="http://schemas.microsoft.com/office/drawing/2014/main" id="{9F947D84-1079-81AC-150B-D6F40C0637A1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48" name="Straight Connector 47" title="Q lines">
              <a:extLst>
                <a:ext uri="{FF2B5EF4-FFF2-40B4-BE49-F238E27FC236}">
                  <a16:creationId xmlns:a16="http://schemas.microsoft.com/office/drawing/2014/main" id="{787CEBE1-55C2-36B6-C8CC-19272F8A157C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 title="Q lines">
              <a:extLst>
                <a:ext uri="{FF2B5EF4-FFF2-40B4-BE49-F238E27FC236}">
                  <a16:creationId xmlns:a16="http://schemas.microsoft.com/office/drawing/2014/main" id="{A6B5D87F-CD84-A93A-35D5-E0AB3672ABB6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 title="Q lines">
              <a:extLst>
                <a:ext uri="{FF2B5EF4-FFF2-40B4-BE49-F238E27FC236}">
                  <a16:creationId xmlns:a16="http://schemas.microsoft.com/office/drawing/2014/main" id="{DCC6E08B-6F35-9B5D-1F46-4A47D6F65BCC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 title="Quarter Number">
              <a:extLst>
                <a:ext uri="{FF2B5EF4-FFF2-40B4-BE49-F238E27FC236}">
                  <a16:creationId xmlns:a16="http://schemas.microsoft.com/office/drawing/2014/main" id="{161751B0-B854-B04C-7DFD-FA67A0BCBD95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9F9ABFA-C185-5C6C-489B-042175ECC7B9}"/>
              </a:ext>
            </a:extLst>
          </p:cNvPr>
          <p:cNvSpPr txBox="1"/>
          <p:nvPr/>
        </p:nvSpPr>
        <p:spPr>
          <a:xfrm>
            <a:off x="681570" y="2229239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Paper records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B97E0-FDC7-A7C6-5008-AE8EFB21DA76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visibility</a:t>
            </a:r>
          </a:p>
        </p:txBody>
      </p:sp>
      <p:pic>
        <p:nvPicPr>
          <p:cNvPr id="54" name="Graphic 53" title="callout">
            <a:extLst>
              <a:ext uri="{FF2B5EF4-FFF2-40B4-BE49-F238E27FC236}">
                <a16:creationId xmlns:a16="http://schemas.microsoft.com/office/drawing/2014/main" id="{BEED138E-151A-DD0C-0181-DB260A9EB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5" name="Graphic 54" title="callout">
            <a:extLst>
              <a:ext uri="{FF2B5EF4-FFF2-40B4-BE49-F238E27FC236}">
                <a16:creationId xmlns:a16="http://schemas.microsoft.com/office/drawing/2014/main" id="{BE1F096B-A3F5-A885-C6EE-D3D793DAC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4BC4F58-166F-DE33-F33F-BA0243DB957F}"/>
              </a:ext>
            </a:extLst>
          </p:cNvPr>
          <p:cNvSpPr txBox="1"/>
          <p:nvPr/>
        </p:nvSpPr>
        <p:spPr>
          <a:xfrm>
            <a:off x="3945520" y="2285613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Asset Tag</a:t>
            </a:r>
          </a:p>
        </p:txBody>
      </p:sp>
      <p:pic>
        <p:nvPicPr>
          <p:cNvPr id="57" name="Graphic 56" title="callout">
            <a:extLst>
              <a:ext uri="{FF2B5EF4-FFF2-40B4-BE49-F238E27FC236}">
                <a16:creationId xmlns:a16="http://schemas.microsoft.com/office/drawing/2014/main" id="{95A09405-303F-5A0D-74CA-4B84131B4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FB6DAF1-4EF8-4431-5711-07DF74018FDE}"/>
              </a:ext>
            </a:extLst>
          </p:cNvPr>
          <p:cNvSpPr txBox="1"/>
          <p:nvPr/>
        </p:nvSpPr>
        <p:spPr>
          <a:xfrm>
            <a:off x="4824568" y="431030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Asset Owner</a:t>
            </a:r>
          </a:p>
        </p:txBody>
      </p:sp>
      <p:pic>
        <p:nvPicPr>
          <p:cNvPr id="59" name="Picture 58" descr="Icon&#10;&#10;Description automatically generated">
            <a:extLst>
              <a:ext uri="{FF2B5EF4-FFF2-40B4-BE49-F238E27FC236}">
                <a16:creationId xmlns:a16="http://schemas.microsoft.com/office/drawing/2014/main" id="{9EE1F023-ADE0-09C8-5883-D16931919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F2E4854-1A5E-F3E8-AEBF-BC59261DD5EE}"/>
              </a:ext>
            </a:extLst>
          </p:cNvPr>
          <p:cNvSpPr txBox="1"/>
          <p:nvPr/>
        </p:nvSpPr>
        <p:spPr>
          <a:xfrm>
            <a:off x="7186571" y="4364691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Visibility of  quantities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D6DA4D-E3D7-F660-C518-99DD5C9F91D0}"/>
              </a:ext>
            </a:extLst>
          </p:cNvPr>
          <p:cNvSpPr txBox="1"/>
          <p:nvPr/>
        </p:nvSpPr>
        <p:spPr>
          <a:xfrm>
            <a:off x="9452124" y="4300623"/>
            <a:ext cx="166369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Risk Management</a:t>
            </a:r>
          </a:p>
        </p:txBody>
      </p:sp>
      <p:grpSp>
        <p:nvGrpSpPr>
          <p:cNvPr id="63" name="Group 62" title="Today Flag Icon">
            <a:extLst>
              <a:ext uri="{FF2B5EF4-FFF2-40B4-BE49-F238E27FC236}">
                <a16:creationId xmlns:a16="http://schemas.microsoft.com/office/drawing/2014/main" id="{B0F718F6-B89D-74B9-9F3C-EA09AD515AF5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5B6CE6A-B8C8-7C4C-9BFC-53370D95733E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65" name="Graphic 64" title="Flag Icon">
              <a:extLst>
                <a:ext uri="{FF2B5EF4-FFF2-40B4-BE49-F238E27FC236}">
                  <a16:creationId xmlns:a16="http://schemas.microsoft.com/office/drawing/2014/main" id="{32BC3DA7-8BF6-0926-9767-FB516697D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66" name="Graphic 65" descr="Flag outline">
            <a:extLst>
              <a:ext uri="{FF2B5EF4-FFF2-40B4-BE49-F238E27FC236}">
                <a16:creationId xmlns:a16="http://schemas.microsoft.com/office/drawing/2014/main" id="{91FA3F71-A6B5-C47B-DD83-861FDFB195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Risk Management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64" name="Graphic 63" title="callout">
            <a:extLst>
              <a:ext uri="{FF2B5EF4-FFF2-40B4-BE49-F238E27FC236}">
                <a16:creationId xmlns:a16="http://schemas.microsoft.com/office/drawing/2014/main" id="{A46BB7E9-5CC3-C267-8BBC-8FA76C429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65" name="Graphic 64" title="callout">
            <a:extLst>
              <a:ext uri="{FF2B5EF4-FFF2-40B4-BE49-F238E27FC236}">
                <a16:creationId xmlns:a16="http://schemas.microsoft.com/office/drawing/2014/main" id="{8724537E-10E2-3AB2-D13B-370EF04AB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B67D9CD-817A-0188-54B9-DDB77F0CE390}"/>
              </a:ext>
            </a:extLst>
          </p:cNvPr>
          <p:cNvSpPr txBox="1"/>
          <p:nvPr/>
        </p:nvSpPr>
        <p:spPr>
          <a:xfrm>
            <a:off x="3166585" y="4196567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Risk Identification</a:t>
            </a:r>
          </a:p>
        </p:txBody>
      </p:sp>
      <p:pic>
        <p:nvPicPr>
          <p:cNvPr id="68" name="Graphic 67" title="callout">
            <a:extLst>
              <a:ext uri="{FF2B5EF4-FFF2-40B4-BE49-F238E27FC236}">
                <a16:creationId xmlns:a16="http://schemas.microsoft.com/office/drawing/2014/main" id="{4052EFF3-D0A4-0ED0-FC2E-BA6C718D1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70" name="Graphic 69" title="callout">
            <a:extLst>
              <a:ext uri="{FF2B5EF4-FFF2-40B4-BE49-F238E27FC236}">
                <a16:creationId xmlns:a16="http://schemas.microsoft.com/office/drawing/2014/main" id="{4CB1C3EC-3406-F925-59C6-52EC81713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AC191AE-1F7B-4407-F7F3-C7C0AC6834EA}"/>
              </a:ext>
            </a:extLst>
          </p:cNvPr>
          <p:cNvSpPr txBox="1"/>
          <p:nvPr/>
        </p:nvSpPr>
        <p:spPr>
          <a:xfrm>
            <a:off x="5983948" y="225189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Evidence</a:t>
            </a:r>
          </a:p>
        </p:txBody>
      </p:sp>
      <p:pic>
        <p:nvPicPr>
          <p:cNvPr id="72" name="Graphic 71" title="callout">
            <a:extLst>
              <a:ext uri="{FF2B5EF4-FFF2-40B4-BE49-F238E27FC236}">
                <a16:creationId xmlns:a16="http://schemas.microsoft.com/office/drawing/2014/main" id="{63D0B383-E65C-847C-C2BF-751871787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5B23457-79CC-09B9-36CD-93BC45C7AC39}"/>
              </a:ext>
            </a:extLst>
          </p:cNvPr>
          <p:cNvSpPr txBox="1"/>
          <p:nvPr/>
        </p:nvSpPr>
        <p:spPr>
          <a:xfrm>
            <a:off x="9888918" y="2162994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Audits</a:t>
            </a:r>
          </a:p>
        </p:txBody>
      </p:sp>
      <p:pic>
        <p:nvPicPr>
          <p:cNvPr id="75" name="Graphic 74" title="callout">
            <a:extLst>
              <a:ext uri="{FF2B5EF4-FFF2-40B4-BE49-F238E27FC236}">
                <a16:creationId xmlns:a16="http://schemas.microsoft.com/office/drawing/2014/main" id="{4FBDADC2-4DB9-98AA-C71B-8197A7B1E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B752F5F-8A24-3691-1FB1-DE64AE83292D}"/>
              </a:ext>
            </a:extLst>
          </p:cNvPr>
          <p:cNvSpPr txBox="1"/>
          <p:nvPr/>
        </p:nvSpPr>
        <p:spPr>
          <a:xfrm>
            <a:off x="8552678" y="2067212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Controls + Measures</a:t>
            </a:r>
          </a:p>
        </p:txBody>
      </p:sp>
      <p:pic>
        <p:nvPicPr>
          <p:cNvPr id="77" name="Graphic 76" title="callout">
            <a:extLst>
              <a:ext uri="{FF2B5EF4-FFF2-40B4-BE49-F238E27FC236}">
                <a16:creationId xmlns:a16="http://schemas.microsoft.com/office/drawing/2014/main" id="{261EADCB-6CBB-CF15-6959-4EF35B5C4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78" name="Graphic 77" title="callout">
            <a:extLst>
              <a:ext uri="{FF2B5EF4-FFF2-40B4-BE49-F238E27FC236}">
                <a16:creationId xmlns:a16="http://schemas.microsoft.com/office/drawing/2014/main" id="{DF326BFA-4DD4-869C-9247-156E4120D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2CF8EE0C-272F-70C6-7D5B-8AEDB6685897}"/>
              </a:ext>
            </a:extLst>
          </p:cNvPr>
          <p:cNvSpPr txBox="1"/>
          <p:nvPr/>
        </p:nvSpPr>
        <p:spPr>
          <a:xfrm>
            <a:off x="681570" y="2229239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 Storage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635BB84-9FEF-0F28-679C-0601A3B54993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Register</a:t>
            </a:r>
          </a:p>
        </p:txBody>
      </p:sp>
      <p:pic>
        <p:nvPicPr>
          <p:cNvPr id="106" name="Graphic 105" title="callout">
            <a:extLst>
              <a:ext uri="{FF2B5EF4-FFF2-40B4-BE49-F238E27FC236}">
                <a16:creationId xmlns:a16="http://schemas.microsoft.com/office/drawing/2014/main" id="{64AE5DA2-DB35-B8FF-F112-8A0FC70B8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107" name="Graphic 106" title="callout">
            <a:extLst>
              <a:ext uri="{FF2B5EF4-FFF2-40B4-BE49-F238E27FC236}">
                <a16:creationId xmlns:a16="http://schemas.microsoft.com/office/drawing/2014/main" id="{BB3A4F67-F6E8-AEA1-EBA0-03CB3C62C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0E9FFE2B-623A-32B3-59E6-9D1098225F49}"/>
              </a:ext>
            </a:extLst>
          </p:cNvPr>
          <p:cNvSpPr txBox="1"/>
          <p:nvPr/>
        </p:nvSpPr>
        <p:spPr>
          <a:xfrm>
            <a:off x="3945520" y="2285613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Risk Owner</a:t>
            </a:r>
          </a:p>
        </p:txBody>
      </p:sp>
      <p:pic>
        <p:nvPicPr>
          <p:cNvPr id="109" name="Graphic 108" title="callout">
            <a:extLst>
              <a:ext uri="{FF2B5EF4-FFF2-40B4-BE49-F238E27FC236}">
                <a16:creationId xmlns:a16="http://schemas.microsoft.com/office/drawing/2014/main" id="{3C60241B-68B8-5D54-D2AF-A2BE34F91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203EFC7-4BAF-3C9D-9403-D2DDEF56815D}"/>
              </a:ext>
            </a:extLst>
          </p:cNvPr>
          <p:cNvSpPr txBox="1"/>
          <p:nvPr/>
        </p:nvSpPr>
        <p:spPr>
          <a:xfrm>
            <a:off x="4824568" y="431030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Risk Scoring</a:t>
            </a:r>
          </a:p>
        </p:txBody>
      </p:sp>
      <p:pic>
        <p:nvPicPr>
          <p:cNvPr id="111" name="Picture 110" descr="Icon&#10;&#10;Description automatically generated">
            <a:extLst>
              <a:ext uri="{FF2B5EF4-FFF2-40B4-BE49-F238E27FC236}">
                <a16:creationId xmlns:a16="http://schemas.microsoft.com/office/drawing/2014/main" id="{A9CEE35F-4A8D-67A0-91F1-957A10F26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894BDDDA-6068-AAA2-226B-4F4728F0CAB6}"/>
              </a:ext>
            </a:extLst>
          </p:cNvPr>
          <p:cNvSpPr txBox="1"/>
          <p:nvPr/>
        </p:nvSpPr>
        <p:spPr>
          <a:xfrm>
            <a:off x="7222105" y="4312025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Escalation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6689008-7FC1-6D78-122C-EBC292D995C9}"/>
              </a:ext>
            </a:extLst>
          </p:cNvPr>
          <p:cNvSpPr txBox="1"/>
          <p:nvPr/>
        </p:nvSpPr>
        <p:spPr>
          <a:xfrm>
            <a:off x="9452124" y="4300623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Mitigation</a:t>
            </a:r>
          </a:p>
        </p:txBody>
      </p:sp>
      <p:grpSp>
        <p:nvGrpSpPr>
          <p:cNvPr id="163" name="Group 162" title="Year 3">
            <a:extLst>
              <a:ext uri="{FF2B5EF4-FFF2-40B4-BE49-F238E27FC236}">
                <a16:creationId xmlns:a16="http://schemas.microsoft.com/office/drawing/2014/main" id="{F84F1759-A3C2-D9BE-52B4-40B7530AE38A}"/>
              </a:ext>
            </a:extLst>
          </p:cNvPr>
          <p:cNvGrpSpPr/>
          <p:nvPr/>
        </p:nvGrpSpPr>
        <p:grpSpPr>
          <a:xfrm>
            <a:off x="6890490" y="3119046"/>
            <a:ext cx="1298298" cy="165471"/>
            <a:chOff x="6890490" y="3119046"/>
            <a:chExt cx="1298298" cy="165471"/>
          </a:xfrm>
        </p:grpSpPr>
        <p:cxnSp>
          <p:nvCxnSpPr>
            <p:cNvPr id="164" name="Straight Connector 163" title="Q lines">
              <a:extLst>
                <a:ext uri="{FF2B5EF4-FFF2-40B4-BE49-F238E27FC236}">
                  <a16:creationId xmlns:a16="http://schemas.microsoft.com/office/drawing/2014/main" id="{E36044B1-F04D-9A8A-35A4-146BC666F474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 title="Q lines">
              <a:extLst>
                <a:ext uri="{FF2B5EF4-FFF2-40B4-BE49-F238E27FC236}">
                  <a16:creationId xmlns:a16="http://schemas.microsoft.com/office/drawing/2014/main" id="{D0AA3151-FE29-2B30-CFDC-32B49CA660C9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 title="Q lines">
              <a:extLst>
                <a:ext uri="{FF2B5EF4-FFF2-40B4-BE49-F238E27FC236}">
                  <a16:creationId xmlns:a16="http://schemas.microsoft.com/office/drawing/2014/main" id="{C65404B8-A080-EDF3-7B38-831DFE2DBDFF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DA052ABF-50ED-14E8-9AB1-F37BCC275117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C2AE76E-5E46-ABDB-A5C0-A2DEB73EFC68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1EE7E44-6E29-CB1A-E242-BAA3B5085723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4642FFB-ED36-6434-7CAE-FA8A842816BF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186" name="Straight Connector 185" title="Q lines">
            <a:extLst>
              <a:ext uri="{FF2B5EF4-FFF2-40B4-BE49-F238E27FC236}">
                <a16:creationId xmlns:a16="http://schemas.microsoft.com/office/drawing/2014/main" id="{77E52929-867B-7C64-FC4D-1DC6DA6CB31E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 title="Q lines">
            <a:extLst>
              <a:ext uri="{FF2B5EF4-FFF2-40B4-BE49-F238E27FC236}">
                <a16:creationId xmlns:a16="http://schemas.microsoft.com/office/drawing/2014/main" id="{596B4DB0-F3C9-BDD3-4BD0-8A14669623CE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 title="Q lines">
            <a:extLst>
              <a:ext uri="{FF2B5EF4-FFF2-40B4-BE49-F238E27FC236}">
                <a16:creationId xmlns:a16="http://schemas.microsoft.com/office/drawing/2014/main" id="{1569DEC5-9BEF-7512-E9DC-1272F8943FBA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 title="Year 4">
            <a:extLst>
              <a:ext uri="{FF2B5EF4-FFF2-40B4-BE49-F238E27FC236}">
                <a16:creationId xmlns:a16="http://schemas.microsoft.com/office/drawing/2014/main" id="{A19C3A9B-AACE-ADF0-991E-1C88DD9B11CC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204" name="Straight Connector 203" title="Q lines">
              <a:extLst>
                <a:ext uri="{FF2B5EF4-FFF2-40B4-BE49-F238E27FC236}">
                  <a16:creationId xmlns:a16="http://schemas.microsoft.com/office/drawing/2014/main" id="{B268934C-A2CA-007B-33A0-47E8E57C401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 title="Q lines">
              <a:extLst>
                <a:ext uri="{FF2B5EF4-FFF2-40B4-BE49-F238E27FC236}">
                  <a16:creationId xmlns:a16="http://schemas.microsoft.com/office/drawing/2014/main" id="{949D9AB2-1467-BD90-2137-333C03BA438A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Arrow: Right 205" title="Year Arrow">
              <a:extLst>
                <a:ext uri="{FF2B5EF4-FFF2-40B4-BE49-F238E27FC236}">
                  <a16:creationId xmlns:a16="http://schemas.microsoft.com/office/drawing/2014/main" id="{A1185C9B-0577-5C93-0E6D-ABFA935ECA2C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207" name="Straight Connector 206" title="Q lines">
              <a:extLst>
                <a:ext uri="{FF2B5EF4-FFF2-40B4-BE49-F238E27FC236}">
                  <a16:creationId xmlns:a16="http://schemas.microsoft.com/office/drawing/2014/main" id="{850A89FE-5E65-1CC2-67AA-8A4E7110F0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 title="Q lines">
              <a:extLst>
                <a:ext uri="{FF2B5EF4-FFF2-40B4-BE49-F238E27FC236}">
                  <a16:creationId xmlns:a16="http://schemas.microsoft.com/office/drawing/2014/main" id="{96287D04-9EA3-7C56-FB3F-A6214A1C6C65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 title="Year 3">
            <a:extLst>
              <a:ext uri="{FF2B5EF4-FFF2-40B4-BE49-F238E27FC236}">
                <a16:creationId xmlns:a16="http://schemas.microsoft.com/office/drawing/2014/main" id="{14E2BDFE-33F8-6DBA-60A6-DA0A37B145DE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210" name="Straight Connector 209" title="Q lines">
              <a:extLst>
                <a:ext uri="{FF2B5EF4-FFF2-40B4-BE49-F238E27FC236}">
                  <a16:creationId xmlns:a16="http://schemas.microsoft.com/office/drawing/2014/main" id="{CEA91E42-BE89-D033-AB91-CAD98F27C6AF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Arrow: Right 210" title="Year Arrow">
              <a:extLst>
                <a:ext uri="{FF2B5EF4-FFF2-40B4-BE49-F238E27FC236}">
                  <a16:creationId xmlns:a16="http://schemas.microsoft.com/office/drawing/2014/main" id="{17BE587F-FE72-ABA6-023D-325C8C227048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213" name="Straight Connector 212" title="Q lines">
              <a:extLst>
                <a:ext uri="{FF2B5EF4-FFF2-40B4-BE49-F238E27FC236}">
                  <a16:creationId xmlns:a16="http://schemas.microsoft.com/office/drawing/2014/main" id="{D663E04F-3848-759C-4E6B-7A291BF19497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 title="Q lines">
              <a:extLst>
                <a:ext uri="{FF2B5EF4-FFF2-40B4-BE49-F238E27FC236}">
                  <a16:creationId xmlns:a16="http://schemas.microsoft.com/office/drawing/2014/main" id="{AB236FEE-E40F-BA58-F142-397DC485A6D9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 title="Year 2">
            <a:extLst>
              <a:ext uri="{FF2B5EF4-FFF2-40B4-BE49-F238E27FC236}">
                <a16:creationId xmlns:a16="http://schemas.microsoft.com/office/drawing/2014/main" id="{EDA966FE-6C6C-07EB-D29D-FC956E3A63F6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216" name="Arrow: Right 215" title="Year Arrow">
              <a:extLst>
                <a:ext uri="{FF2B5EF4-FFF2-40B4-BE49-F238E27FC236}">
                  <a16:creationId xmlns:a16="http://schemas.microsoft.com/office/drawing/2014/main" id="{E37B7909-5B87-4015-8653-FA72E12F83E8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218" name="Straight Connector 217" title="Q lines">
              <a:extLst>
                <a:ext uri="{FF2B5EF4-FFF2-40B4-BE49-F238E27FC236}">
                  <a16:creationId xmlns:a16="http://schemas.microsoft.com/office/drawing/2014/main" id="{578F3928-39BF-3D4A-3F94-ACE728851929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 title="Q lines">
              <a:extLst>
                <a:ext uri="{FF2B5EF4-FFF2-40B4-BE49-F238E27FC236}">
                  <a16:creationId xmlns:a16="http://schemas.microsoft.com/office/drawing/2014/main" id="{14E891FF-313E-D367-9A0D-429AC87ECBD5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 title="Q lines">
              <a:extLst>
                <a:ext uri="{FF2B5EF4-FFF2-40B4-BE49-F238E27FC236}">
                  <a16:creationId xmlns:a16="http://schemas.microsoft.com/office/drawing/2014/main" id="{C26B9875-AD09-8FED-3F7F-96E36F457621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Group 220" title="Year 1">
            <a:extLst>
              <a:ext uri="{FF2B5EF4-FFF2-40B4-BE49-F238E27FC236}">
                <a16:creationId xmlns:a16="http://schemas.microsoft.com/office/drawing/2014/main" id="{020158D7-72EF-F172-7BB9-0567AC0B833C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222" name="Straight Connector 221" title="Q lines">
              <a:extLst>
                <a:ext uri="{FF2B5EF4-FFF2-40B4-BE49-F238E27FC236}">
                  <a16:creationId xmlns:a16="http://schemas.microsoft.com/office/drawing/2014/main" id="{78BE8B29-D11B-CC70-2557-3B20168BBAA5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Arrow: Right 222" title="Year Arrow">
              <a:extLst>
                <a:ext uri="{FF2B5EF4-FFF2-40B4-BE49-F238E27FC236}">
                  <a16:creationId xmlns:a16="http://schemas.microsoft.com/office/drawing/2014/main" id="{BF2D98EC-AA05-0F00-794F-4E34C8F40A97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224" name="Straight Connector 223" title="Q lines">
              <a:extLst>
                <a:ext uri="{FF2B5EF4-FFF2-40B4-BE49-F238E27FC236}">
                  <a16:creationId xmlns:a16="http://schemas.microsoft.com/office/drawing/2014/main" id="{0B01861E-1C47-EEB3-1510-92D82CBA446F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 title="Q lines">
              <a:extLst>
                <a:ext uri="{FF2B5EF4-FFF2-40B4-BE49-F238E27FC236}">
                  <a16:creationId xmlns:a16="http://schemas.microsoft.com/office/drawing/2014/main" id="{D76D60A8-8C6E-E684-55E5-1D08B2F7D002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 title="Q lines">
              <a:extLst>
                <a:ext uri="{FF2B5EF4-FFF2-40B4-BE49-F238E27FC236}">
                  <a16:creationId xmlns:a16="http://schemas.microsoft.com/office/drawing/2014/main" id="{E54924F6-20DC-CACF-2BF0-2D6D656691DF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 title="Quarter Number">
              <a:extLst>
                <a:ext uri="{FF2B5EF4-FFF2-40B4-BE49-F238E27FC236}">
                  <a16:creationId xmlns:a16="http://schemas.microsoft.com/office/drawing/2014/main" id="{C5420E09-1E93-AE77-00D7-081E62690415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28" name="Group 227" title="Today Flag Icon">
            <a:extLst>
              <a:ext uri="{FF2B5EF4-FFF2-40B4-BE49-F238E27FC236}">
                <a16:creationId xmlns:a16="http://schemas.microsoft.com/office/drawing/2014/main" id="{09587EAD-B813-BEF1-C20E-98CB46C6827C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EC831DA-B066-1B95-2C42-B805CEE3FB4E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30" name="Graphic 229" title="Flag Icon">
              <a:extLst>
                <a:ext uri="{FF2B5EF4-FFF2-40B4-BE49-F238E27FC236}">
                  <a16:creationId xmlns:a16="http://schemas.microsoft.com/office/drawing/2014/main" id="{99804430-8918-A525-73E8-F4674A5AF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231" name="Graphic 230" descr="Flag outline">
            <a:extLst>
              <a:ext uri="{FF2B5EF4-FFF2-40B4-BE49-F238E27FC236}">
                <a16:creationId xmlns:a16="http://schemas.microsoft.com/office/drawing/2014/main" id="{B39D6D4D-FC27-0E84-FC81-CFC862FF91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1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Incident Management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823E4A80-75E3-67FE-E4B7-071EB1EA0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E6302B35-2910-0DA9-6E56-92AA417F9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B8A8F9-1A02-2B84-9523-512EB45695B9}"/>
              </a:ext>
            </a:extLst>
          </p:cNvPr>
          <p:cNvSpPr txBox="1"/>
          <p:nvPr/>
        </p:nvSpPr>
        <p:spPr>
          <a:xfrm>
            <a:off x="3166585" y="4196567"/>
            <a:ext cx="1557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 all activity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659A801A-2B46-5B74-3D29-BFEECA5C1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FD1BD255-5ADF-7DAA-11CD-9C37A20EC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3FBA2D-F5C3-2148-6DEA-941A1A7D9A90}"/>
              </a:ext>
            </a:extLst>
          </p:cNvPr>
          <p:cNvSpPr txBox="1"/>
          <p:nvPr/>
        </p:nvSpPr>
        <p:spPr>
          <a:xfrm>
            <a:off x="5983948" y="225189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Interactions 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C87B9ABF-1A10-24E3-4188-FAC552EB8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A36D6A3-1160-EC7D-5617-3DE73979580F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Analytics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A4E0C8E5-F727-3E80-C3D6-E49CBE093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68C5AF1-67FD-E13E-3024-34FC703B4A89}"/>
              </a:ext>
            </a:extLst>
          </p:cNvPr>
          <p:cNvSpPr txBox="1"/>
          <p:nvPr/>
        </p:nvSpPr>
        <p:spPr>
          <a:xfrm>
            <a:off x="8400201" y="2297392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documentation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A676816D-AA48-E73B-2011-1969AEE51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B969BE4F-DAD5-C527-F750-67003AF83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C5DDD27-BF0A-8AB9-9CD8-B1338E960A51}"/>
              </a:ext>
            </a:extLst>
          </p:cNvPr>
          <p:cNvSpPr txBox="1"/>
          <p:nvPr/>
        </p:nvSpPr>
        <p:spPr>
          <a:xfrm>
            <a:off x="665781" y="2338281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Accountability</a:t>
            </a:r>
          </a:p>
        </p:txBody>
      </p:sp>
      <p:pic>
        <p:nvPicPr>
          <p:cNvPr id="48" name="Graphic 47" title="callout">
            <a:extLst>
              <a:ext uri="{FF2B5EF4-FFF2-40B4-BE49-F238E27FC236}">
                <a16:creationId xmlns:a16="http://schemas.microsoft.com/office/drawing/2014/main" id="{A6AAD4EB-4F9C-2C30-89B3-CCEE2E63C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FF1CE0F5-E3C5-CB71-E332-A69796143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28D09E6-5983-44C2-87B4-1BECF5B58FA8}"/>
              </a:ext>
            </a:extLst>
          </p:cNvPr>
          <p:cNvSpPr txBox="1"/>
          <p:nvPr/>
        </p:nvSpPr>
        <p:spPr>
          <a:xfrm>
            <a:off x="3945520" y="2285613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Incident Owner</a:t>
            </a:r>
          </a:p>
        </p:txBody>
      </p:sp>
      <p:pic>
        <p:nvPicPr>
          <p:cNvPr id="51" name="Graphic 50" title="callout">
            <a:extLst>
              <a:ext uri="{FF2B5EF4-FFF2-40B4-BE49-F238E27FC236}">
                <a16:creationId xmlns:a16="http://schemas.microsoft.com/office/drawing/2014/main" id="{A57B4B55-F035-072C-DB48-18222FE63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C8B2EED-4992-E3EE-F9D5-3AA22611BFF6}"/>
              </a:ext>
            </a:extLst>
          </p:cNvPr>
          <p:cNvSpPr txBox="1"/>
          <p:nvPr/>
        </p:nvSpPr>
        <p:spPr>
          <a:xfrm>
            <a:off x="4824568" y="4310302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Notification</a:t>
            </a:r>
          </a:p>
        </p:txBody>
      </p:sp>
      <p:pic>
        <p:nvPicPr>
          <p:cNvPr id="53" name="Picture 52" descr="Icon&#10;&#10;Description automatically generated">
            <a:extLst>
              <a:ext uri="{FF2B5EF4-FFF2-40B4-BE49-F238E27FC236}">
                <a16:creationId xmlns:a16="http://schemas.microsoft.com/office/drawing/2014/main" id="{E3B35325-6697-5C1F-CBFE-BCBAA8225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85D57FE-A70B-0248-C2E7-7362CF74F13B}"/>
              </a:ext>
            </a:extLst>
          </p:cNvPr>
          <p:cNvSpPr txBox="1"/>
          <p:nvPr/>
        </p:nvSpPr>
        <p:spPr>
          <a:xfrm>
            <a:off x="7222105" y="4312025"/>
            <a:ext cx="15982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metrics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09EAED-A38C-DA66-9735-7D20EEB4B5FE}"/>
              </a:ext>
            </a:extLst>
          </p:cNvPr>
          <p:cNvSpPr txBox="1"/>
          <p:nvPr/>
        </p:nvSpPr>
        <p:spPr>
          <a:xfrm>
            <a:off x="9452124" y="4300623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8A675F-B482-5E5C-9962-11A804CAAB21}"/>
              </a:ext>
            </a:extLst>
          </p:cNvPr>
          <p:cNvSpPr txBox="1"/>
          <p:nvPr/>
        </p:nvSpPr>
        <p:spPr>
          <a:xfrm>
            <a:off x="349200" y="4223101"/>
            <a:ext cx="250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Records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46CE9E-1814-C57B-E637-38AA738BE0B2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E231FA-5714-6740-0650-31B1E77B262F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A33796-8163-06C2-C261-E389B05C3830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1D0093A6-1A52-9DD8-46E5-EA4D4F9AB9EB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title="Q lines">
            <a:extLst>
              <a:ext uri="{FF2B5EF4-FFF2-40B4-BE49-F238E27FC236}">
                <a16:creationId xmlns:a16="http://schemas.microsoft.com/office/drawing/2014/main" id="{F132CC66-5B03-6555-67D2-5E093BB77D82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 title="Q lines">
            <a:extLst>
              <a:ext uri="{FF2B5EF4-FFF2-40B4-BE49-F238E27FC236}">
                <a16:creationId xmlns:a16="http://schemas.microsoft.com/office/drawing/2014/main" id="{E31F28D8-8FA2-9A00-2E7D-EB46F6F0AF09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EC9ECB8-1667-CF80-5D45-34D2F5B1ECF6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6" name="Group 95" title="Year 4">
            <a:extLst>
              <a:ext uri="{FF2B5EF4-FFF2-40B4-BE49-F238E27FC236}">
                <a16:creationId xmlns:a16="http://schemas.microsoft.com/office/drawing/2014/main" id="{0A51CEF1-66A8-9DD4-C287-410DB0F1A082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7" name="Straight Connector 96" title="Q lines">
              <a:extLst>
                <a:ext uri="{FF2B5EF4-FFF2-40B4-BE49-F238E27FC236}">
                  <a16:creationId xmlns:a16="http://schemas.microsoft.com/office/drawing/2014/main" id="{C3DDD12E-970C-627B-21CE-AA00A8B29FA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55037A0B-7895-4BD9-7B4B-49084817678F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Arrow: Right 98" title="Year Arrow">
              <a:extLst>
                <a:ext uri="{FF2B5EF4-FFF2-40B4-BE49-F238E27FC236}">
                  <a16:creationId xmlns:a16="http://schemas.microsoft.com/office/drawing/2014/main" id="{3DC4F3BA-E2EF-F431-9387-E33946006E60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100" name="Straight Connector 99" title="Q lines">
              <a:extLst>
                <a:ext uri="{FF2B5EF4-FFF2-40B4-BE49-F238E27FC236}">
                  <a16:creationId xmlns:a16="http://schemas.microsoft.com/office/drawing/2014/main" id="{7034B77F-CA82-7EA8-4B1E-6B5443B79A9F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7DA531BD-E453-4E44-66D8-696476BB0136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 title="Year 3">
            <a:extLst>
              <a:ext uri="{FF2B5EF4-FFF2-40B4-BE49-F238E27FC236}">
                <a16:creationId xmlns:a16="http://schemas.microsoft.com/office/drawing/2014/main" id="{86DAD0A5-6BD3-ED30-D4A9-761E6734B095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3" name="Straight Connector 102" title="Q lines">
              <a:extLst>
                <a:ext uri="{FF2B5EF4-FFF2-40B4-BE49-F238E27FC236}">
                  <a16:creationId xmlns:a16="http://schemas.microsoft.com/office/drawing/2014/main" id="{2D135761-43B5-2BE1-C69C-EAE14F437697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 title="Year Arrow">
              <a:extLst>
                <a:ext uri="{FF2B5EF4-FFF2-40B4-BE49-F238E27FC236}">
                  <a16:creationId xmlns:a16="http://schemas.microsoft.com/office/drawing/2014/main" id="{A77BDD8E-CF91-8651-3B09-137B068692B7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6" name="Straight Connector 105" title="Q lines">
              <a:extLst>
                <a:ext uri="{FF2B5EF4-FFF2-40B4-BE49-F238E27FC236}">
                  <a16:creationId xmlns:a16="http://schemas.microsoft.com/office/drawing/2014/main" id="{1479945B-85BA-68BF-FACA-548926F96AA9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 title="Q lines">
              <a:extLst>
                <a:ext uri="{FF2B5EF4-FFF2-40B4-BE49-F238E27FC236}">
                  <a16:creationId xmlns:a16="http://schemas.microsoft.com/office/drawing/2014/main" id="{D97F9241-0795-024B-7A38-CE71CD808641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 title="Year 2">
            <a:extLst>
              <a:ext uri="{FF2B5EF4-FFF2-40B4-BE49-F238E27FC236}">
                <a16:creationId xmlns:a16="http://schemas.microsoft.com/office/drawing/2014/main" id="{72A42672-A85A-E9DC-A726-3F9E783A8156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9" name="Arrow: Right 108" title="Year Arrow">
              <a:extLst>
                <a:ext uri="{FF2B5EF4-FFF2-40B4-BE49-F238E27FC236}">
                  <a16:creationId xmlns:a16="http://schemas.microsoft.com/office/drawing/2014/main" id="{C2B8882A-3DEC-F228-56F5-54DA3EAC4D80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0A4EF5D5-CBC4-D239-40A1-0F19CECFFAAD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 title="Q lines">
              <a:extLst>
                <a:ext uri="{FF2B5EF4-FFF2-40B4-BE49-F238E27FC236}">
                  <a16:creationId xmlns:a16="http://schemas.microsoft.com/office/drawing/2014/main" id="{176DBCB2-4EAA-7464-3555-3415A7A632F8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19F3C486-50DC-A668-F9F4-BDA1C1B2BACA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 title="Year 1">
            <a:extLst>
              <a:ext uri="{FF2B5EF4-FFF2-40B4-BE49-F238E27FC236}">
                <a16:creationId xmlns:a16="http://schemas.microsoft.com/office/drawing/2014/main" id="{85E5018B-A595-DBBB-05AF-07571D569E3E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ACFA827A-130F-A96F-2DBB-418270FC45E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Arrow: Right 115" title="Year Arrow">
              <a:extLst>
                <a:ext uri="{FF2B5EF4-FFF2-40B4-BE49-F238E27FC236}">
                  <a16:creationId xmlns:a16="http://schemas.microsoft.com/office/drawing/2014/main" id="{2F353CE6-564A-CD5A-DAA1-639C7ABA69A1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18074A61-D54B-CFB0-A64B-1C2651265EAE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 title="Q lines">
              <a:extLst>
                <a:ext uri="{FF2B5EF4-FFF2-40B4-BE49-F238E27FC236}">
                  <a16:creationId xmlns:a16="http://schemas.microsoft.com/office/drawing/2014/main" id="{72935315-57DF-84C0-BE7F-5BF4256A64C0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 title="Q lines">
              <a:extLst>
                <a:ext uri="{FF2B5EF4-FFF2-40B4-BE49-F238E27FC236}">
                  <a16:creationId xmlns:a16="http://schemas.microsoft.com/office/drawing/2014/main" id="{41BB2ACF-0E58-857D-FAA7-A27C444A606B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 title="Quarter Number">
              <a:extLst>
                <a:ext uri="{FF2B5EF4-FFF2-40B4-BE49-F238E27FC236}">
                  <a16:creationId xmlns:a16="http://schemas.microsoft.com/office/drawing/2014/main" id="{89808B23-3DC1-A44A-4D5B-6C016CDCF444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1" name="Group 120" title="Today Flag Icon">
            <a:extLst>
              <a:ext uri="{FF2B5EF4-FFF2-40B4-BE49-F238E27FC236}">
                <a16:creationId xmlns:a16="http://schemas.microsoft.com/office/drawing/2014/main" id="{8839BB6A-7D7C-7EA7-6933-CDB1B8904647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6C89981-ABF2-102C-974A-51A8C446DB53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3" name="Graphic 122" title="Flag Icon">
              <a:extLst>
                <a:ext uri="{FF2B5EF4-FFF2-40B4-BE49-F238E27FC236}">
                  <a16:creationId xmlns:a16="http://schemas.microsoft.com/office/drawing/2014/main" id="{BF34251B-665A-0AA3-3CF9-5A64E8A7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4" name="Graphic 123" descr="Flag outline">
            <a:extLst>
              <a:ext uri="{FF2B5EF4-FFF2-40B4-BE49-F238E27FC236}">
                <a16:creationId xmlns:a16="http://schemas.microsoft.com/office/drawing/2014/main" id="{90AB1B1B-DF40-5065-4A42-ABD479894D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0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Audits 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88ADD89C-3638-3774-E9E4-202124B6D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10066225-0C6D-B499-9A72-288E5F053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C7D347-F323-0A7C-D803-7F5AAA89D221}"/>
              </a:ext>
            </a:extLst>
          </p:cNvPr>
          <p:cNvSpPr txBox="1"/>
          <p:nvPr/>
        </p:nvSpPr>
        <p:spPr>
          <a:xfrm>
            <a:off x="3166585" y="4196567"/>
            <a:ext cx="155787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Conduct internal and external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autdits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FD681FEE-EECF-C95B-7D44-319D66823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EEBBC238-21C7-BB1E-CBB1-D3F538116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314B30-F7D9-FBAF-5FA3-FB40A4FD906B}"/>
              </a:ext>
            </a:extLst>
          </p:cNvPr>
          <p:cNvSpPr txBox="1"/>
          <p:nvPr/>
        </p:nvSpPr>
        <p:spPr>
          <a:xfrm>
            <a:off x="5846840" y="1992909"/>
            <a:ext cx="169455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Opportunity for improvement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14715E9D-9099-BE2A-21B2-1135ADC00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014C9A-62EB-9AE1-FA2A-7A84D0964268}"/>
              </a:ext>
            </a:extLst>
          </p:cNvPr>
          <p:cNvSpPr txBox="1"/>
          <p:nvPr/>
        </p:nvSpPr>
        <p:spPr>
          <a:xfrm>
            <a:off x="9854642" y="2337766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Pass audits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F8FC662D-6FD2-AEE1-DECF-AFFE3DD8E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49DFFC-044F-D62A-947D-5DCAFF1170DE}"/>
              </a:ext>
            </a:extLst>
          </p:cNvPr>
          <p:cNvSpPr txBox="1"/>
          <p:nvPr/>
        </p:nvSpPr>
        <p:spPr>
          <a:xfrm>
            <a:off x="8400201" y="2297392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 to auditor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5C755561-63CC-B3F5-39F3-94D1AE1C1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5D0366DA-4294-2483-D8C4-A905D765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127CAD0-A28C-446F-4E5C-ED3EA5F8B2DF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equipped for remote audits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58C4AB-51D8-3DD7-5C5C-F5A60D67F638}"/>
              </a:ext>
            </a:extLst>
          </p:cNvPr>
          <p:cNvSpPr txBox="1"/>
          <p:nvPr/>
        </p:nvSpPr>
        <p:spPr>
          <a:xfrm>
            <a:off x="600388" y="4335067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Evidence all over the place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5FBB4F81-9213-48E3-2699-00F2C0F3B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BD22CE4F-177E-9470-3F84-F4CE1D890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640FBF7-390B-0B68-52D2-CD7350029643}"/>
              </a:ext>
            </a:extLst>
          </p:cNvPr>
          <p:cNvSpPr txBox="1"/>
          <p:nvPr/>
        </p:nvSpPr>
        <p:spPr>
          <a:xfrm>
            <a:off x="4048144" y="2203852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Non-conformity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B788377A-61B3-3B96-751B-7DCFE04BE8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967BFDF-98D4-1D61-A0B8-E2D645866290}"/>
              </a:ext>
            </a:extLst>
          </p:cNvPr>
          <p:cNvSpPr txBox="1"/>
          <p:nvPr/>
        </p:nvSpPr>
        <p:spPr>
          <a:xfrm>
            <a:off x="4824568" y="4310302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Risks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F765CC46-9714-AD35-ED32-B3EE94465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5E0307D-A06D-5A6B-78CD-FA2D1889F474}"/>
              </a:ext>
            </a:extLst>
          </p:cNvPr>
          <p:cNvSpPr txBox="1"/>
          <p:nvPr/>
        </p:nvSpPr>
        <p:spPr>
          <a:xfrm>
            <a:off x="7222105" y="4312025"/>
            <a:ext cx="15982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Resolve, Mitigate and implement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DB9DD5-B2B8-E234-B80D-C7B4844AE616}"/>
              </a:ext>
            </a:extLst>
          </p:cNvPr>
          <p:cNvSpPr txBox="1"/>
          <p:nvPr/>
        </p:nvSpPr>
        <p:spPr>
          <a:xfrm>
            <a:off x="9452124" y="4300623"/>
            <a:ext cx="166369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Demonstrate compliance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FD97F52-75CF-E6F7-5D1C-7366425F0C25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DE3EB9-B9FC-74C3-88B7-14929205ABAE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484DC0-5FEC-E1F3-4B1F-9244A81175DA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604EABC6-A206-4BA9-FC86-25A3BB0D4733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F96E4B10-66D9-3917-B033-A045206FFE95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A5EE86B4-0F07-3DCD-2489-9D552F1885C6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3D56304-B052-CD2E-2A5D-7AC3E768DC2B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EAF61AEE-BE69-1853-2FD1-5469139D361B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4FF7A631-C1D6-C975-12F9-318FB7F2D84F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50B94D7E-E83F-A747-598C-92865B89DE9B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8E3ED39C-C673-6393-456A-6D450B12CCE3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DA3D7D71-3C74-243B-040A-8971897FADF8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DA4194CC-6A1B-AA25-5570-22DD811331B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8677B098-2346-06DD-C080-E88EAB32C325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31CEB8E5-7D28-87EE-6F26-A183BE70E7B2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A646FA6C-4C60-844E-EAEB-3CBA847A4B41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222059BF-95C4-BADC-0ACE-5674F8B5A345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48B3A354-FECB-98A9-361C-9B3C9EB6DABC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A9FBBC5A-5400-5924-A9E9-2FFA7A7426CD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E676B284-13CC-37CA-C5DB-3399CE6A4639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2E607A58-3826-69E0-5EAA-7EE93F834694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A4EB7CEB-E78D-AFD6-B7D3-BD35441BAED6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1D5150DD-4A58-C1AC-59C7-CD0EFD8680C0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3884994F-79ED-8675-C496-4FB92F37166E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BD60B65C-FAED-CDCE-BEC6-8029F1221AA1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D889C222-E923-47A4-2A6C-A949CC06687C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D7E39CD7-2BA9-CEE3-7C1E-90F38390CBFB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62EBE4DD-5986-5764-0B48-F1CA35F1B15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26434D45-1321-1030-91D9-ABAE813CA4B6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F0F58A78-8F95-E50B-9675-26E525B5543E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B0F2AEA9-C175-0E4A-4CFB-EBFAA1FFFD7F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33286940-7A3C-9844-A976-FB0A25466CFA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3AEDCD2F-34DC-B7D2-7B18-E5F49D9A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622CD9C7-8A5C-86A6-AD64-CE1AA5C052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8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Management Reviews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F04F1C3D-A620-3B43-3D84-E9C4AB50E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C1EA1899-F9D3-D769-2077-DE8D8BF61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25D617-1A29-61C7-E09C-BD9860F5B287}"/>
              </a:ext>
            </a:extLst>
          </p:cNvPr>
          <p:cNvSpPr txBox="1"/>
          <p:nvPr/>
        </p:nvSpPr>
        <p:spPr>
          <a:xfrm>
            <a:off x="3166585" y="4196567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Schedule Reviews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3094FA97-8717-B74E-970B-A7307DC70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33AFE43B-A650-E2F2-69E0-EC83414AF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355445-F7C2-F0E5-2980-3FB886192EDB}"/>
              </a:ext>
            </a:extLst>
          </p:cNvPr>
          <p:cNvSpPr txBox="1"/>
          <p:nvPr/>
        </p:nvSpPr>
        <p:spPr>
          <a:xfrm>
            <a:off x="5983948" y="225189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Kpi’s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863F0876-1D25-DEB9-F7BE-4BF5F43D9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6891E2-5183-B49B-BD2A-6870DF40D3E7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Informed decisions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F3A0B3B6-D5BC-0FC5-EACB-784872F2F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74817F-C8D4-C9EC-4B27-4EC530D1EA9F}"/>
              </a:ext>
            </a:extLst>
          </p:cNvPr>
          <p:cNvSpPr txBox="1"/>
          <p:nvPr/>
        </p:nvSpPr>
        <p:spPr>
          <a:xfrm>
            <a:off x="8400201" y="2297392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documentation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676C50AF-3670-6A64-63A7-67BEA9B46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4C2501C6-0F1F-D94D-EC2C-A31501125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A1860A0-DC05-6905-8A42-14887528335B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Multiple software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EFFE36-5EC2-F915-B372-62B7995BDA97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History  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8F835353-30BD-12BC-A5D7-57A31ADD2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1D174AA8-3AE9-345B-DE21-F39E17FB5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4BCEBF3-D478-37A8-C70F-6727A09B9BC3}"/>
              </a:ext>
            </a:extLst>
          </p:cNvPr>
          <p:cNvSpPr txBox="1"/>
          <p:nvPr/>
        </p:nvSpPr>
        <p:spPr>
          <a:xfrm>
            <a:off x="4003556" y="2278240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Invite attendees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C71D33EA-A716-D268-7843-A7F60C94B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A9F4ACC-8F42-6D07-374D-BAD7BEBC88C6}"/>
              </a:ext>
            </a:extLst>
          </p:cNvPr>
          <p:cNvSpPr txBox="1"/>
          <p:nvPr/>
        </p:nvSpPr>
        <p:spPr>
          <a:xfrm>
            <a:off x="4824568" y="4310302"/>
            <a:ext cx="142204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Upload Agenda &amp; minutes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8E7F22E7-70A5-96FD-AF59-A558A336C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77FB23F-53DD-64FB-956D-AFF3059D9EE8}"/>
              </a:ext>
            </a:extLst>
          </p:cNvPr>
          <p:cNvSpPr txBox="1"/>
          <p:nvPr/>
        </p:nvSpPr>
        <p:spPr>
          <a:xfrm>
            <a:off x="7222105" y="4312025"/>
            <a:ext cx="1598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Objectives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2FDF50-5873-0F70-795E-B6ED2FE4A98B}"/>
              </a:ext>
            </a:extLst>
          </p:cNvPr>
          <p:cNvSpPr txBox="1"/>
          <p:nvPr/>
        </p:nvSpPr>
        <p:spPr>
          <a:xfrm>
            <a:off x="9452124" y="4300623"/>
            <a:ext cx="166369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Recurring intervals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29E017-1859-97EB-A6EC-0335B5FEB4AC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CDF4CD-8059-CD94-9D85-8CA9ACD15EFC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A8E8E4D-320D-BC31-2775-9AF3B9DCBA89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F2E10D1F-0403-EC90-B6B5-78D8EAF5CB08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3A820C5B-525A-4208-12FC-E103DDABB35B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90054F1E-D49C-5DD3-8265-46CB13F2F87F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0C47D55-53F1-C0DE-5F7D-6B3D8DDEA9B7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AB326017-E9BE-2EA1-BAFC-45DB09735486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BB9171B3-809F-6528-5F9B-B7E073747F3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A518E426-C308-512E-3440-78DBAF012847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766DACA6-5F09-F2AF-7312-54ABD178E0C6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93819ACE-38A9-A7BC-5A69-EFFDC6F13F9F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2DFDC257-28AE-1B86-0638-FF20BA6C0A4A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C446E9C4-5C24-0B80-CE29-4ABAA2AC87A3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8D4AAFCF-C807-8BEB-30DA-7D739BA441CA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1383A801-33A7-57BD-2D2F-4F1B50953AAB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084F2FA7-0D2D-B215-5F1C-934E211E7371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5CF414C5-B7AF-5C26-5BB7-649D32BA6694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350B3A7A-EB47-A1CB-433E-14B5AFD11112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54A67DBF-C556-F801-C52E-15A45045A73B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40232AC0-2D77-EFB6-BF3C-752C96C88008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44A90820-B622-B795-E24E-526ECA99F2B7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73CAB996-0E20-E04E-7B08-AADE5915FCC2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0166BA38-CBB6-415D-C221-6C7A150E6DE7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E09DC6D4-56C4-C008-4846-E55ABA360870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05B06DF3-074D-BF3A-EC0D-49D1D9626845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8BE647E0-3025-1C1F-80D0-26808FFF64BD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387A5F4F-35DB-660E-1796-E6F443735AFD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13CBFCE2-305F-53D0-1CC0-103F518E0BD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CE17090B-78CB-4F26-5A10-908B99EC037C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41B6F5A0-1CD6-B0A2-C16B-159C1FF86AB1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21E76BCC-44E9-E34B-CF68-300AF0A2BAD2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ADA323D0-DCA4-F698-A182-C0BE013B7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B4B769C4-D8D9-24B8-A03D-852136362A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2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Continual Improvement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C9638596-25A3-874F-7BEE-6DE362A75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C20FC741-399D-928C-0361-1AB971746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35535-B2C4-3077-5E70-D51A63B189AB}"/>
              </a:ext>
            </a:extLst>
          </p:cNvPr>
          <p:cNvSpPr txBox="1"/>
          <p:nvPr/>
        </p:nvSpPr>
        <p:spPr>
          <a:xfrm>
            <a:off x="3166585" y="4196567"/>
            <a:ext cx="1557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OFI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0954C328-183F-E148-7C62-6277770CE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B4CA3EC1-4757-D31F-697D-1C71C4589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4DDEB3-01AD-FDC8-C920-A8803E9FCBC1}"/>
              </a:ext>
            </a:extLst>
          </p:cNvPr>
          <p:cNvSpPr txBox="1"/>
          <p:nvPr/>
        </p:nvSpPr>
        <p:spPr>
          <a:xfrm>
            <a:off x="5983948" y="2251892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Evidence progress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20BDE524-B750-C7E0-E698-BC2682F30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38D05A-A070-FE3A-3756-4217DF29613D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Strategic planning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EF7D4F65-88D0-1DCE-81A9-BABDD2891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27F50B-D02F-1CD4-D458-F294486E197B}"/>
              </a:ext>
            </a:extLst>
          </p:cNvPr>
          <p:cNvSpPr txBox="1"/>
          <p:nvPr/>
        </p:nvSpPr>
        <p:spPr>
          <a:xfrm>
            <a:off x="8400201" y="2297392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 Analytics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900A81BB-2BF7-D0D2-E208-0B7413EFB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E6F19BBF-FB55-B629-99B7-A2E4A4D8B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6F60336-9FE7-6A46-4DA9-EAD8690E3512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Reactive approach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985EFD-CB9B-44FD-CB7E-AD73746FECC5}"/>
              </a:ext>
            </a:extLst>
          </p:cNvPr>
          <p:cNvSpPr txBox="1"/>
          <p:nvPr/>
        </p:nvSpPr>
        <p:spPr>
          <a:xfrm>
            <a:off x="600388" y="4335067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evidence of improvement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3AFB4E1C-BFC5-43E8-2FED-92F2DC397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F70B72CC-780B-B3BB-C636-FBBB4BA87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CC7FDEE-5D57-E15F-CB64-9CEE8B5DD61C}"/>
              </a:ext>
            </a:extLst>
          </p:cNvPr>
          <p:cNvSpPr txBox="1"/>
          <p:nvPr/>
        </p:nvSpPr>
        <p:spPr>
          <a:xfrm>
            <a:off x="3945520" y="2285613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Assign owner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41EE3878-CA07-F06E-B2A7-D98E272E15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7860DE5-3CC0-B33E-2301-6E6605E7487F}"/>
              </a:ext>
            </a:extLst>
          </p:cNvPr>
          <p:cNvSpPr txBox="1"/>
          <p:nvPr/>
        </p:nvSpPr>
        <p:spPr>
          <a:xfrm>
            <a:off x="4824568" y="4310302"/>
            <a:ext cx="14220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Evaluate costs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5404C725-0D0D-EAD0-11D5-1D8D6E2B8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E4DF9A2-C6E3-725D-F5BC-6437303CDC0A}"/>
              </a:ext>
            </a:extLst>
          </p:cNvPr>
          <p:cNvSpPr txBox="1"/>
          <p:nvPr/>
        </p:nvSpPr>
        <p:spPr>
          <a:xfrm>
            <a:off x="7222105" y="4312025"/>
            <a:ext cx="1598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4808D7-EC39-8158-4115-287A8AC39AF7}"/>
              </a:ext>
            </a:extLst>
          </p:cNvPr>
          <p:cNvSpPr txBox="1"/>
          <p:nvPr/>
        </p:nvSpPr>
        <p:spPr>
          <a:xfrm>
            <a:off x="9452124" y="4300623"/>
            <a:ext cx="16636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Demonstrate continuous improvement cycle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0FA39F-6DCF-3990-9C30-E4155D245B97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39C750-BD4C-7DC6-E5D5-86032EAD741F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170EA0E-0503-C9ED-27F8-7D5C8D8CD57C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64A02685-8A5D-24EA-22B8-B16678A5F5BA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A9F2D352-EA5F-B434-8693-3B533C0419C2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188A01A-637D-E622-AB29-BA2B3C26B9C8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0EEDD5C9-D196-5C79-6FDD-60A4CB14A3C5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761C2E41-6445-E835-C247-20BC0E38D1BC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8F0B680A-E725-9666-669A-899D9F6F4B1D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12D1EA7E-262D-8E0E-BBC7-75742ADF4B4A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F7EC3CD3-5C6B-8F3D-937D-3202D5F49F8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5D2B2AB8-9687-61C2-8B5F-B205D5ADA422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B9695981-F540-505D-DA25-936590829D75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8EBC8F64-CBDB-2C1D-3307-BB94334797F9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563FA841-B979-89FC-B591-0CFA25623919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3" name="Straight Connector 102" title="Q lines">
              <a:extLst>
                <a:ext uri="{FF2B5EF4-FFF2-40B4-BE49-F238E27FC236}">
                  <a16:creationId xmlns:a16="http://schemas.microsoft.com/office/drawing/2014/main" id="{8B738CC8-6FF9-EA4B-7CF7-AF71EEF7DC10}"/>
                </a:ext>
              </a:extLst>
            </p:cNvPr>
            <p:cNvCxnSpPr>
              <a:cxnSpLocks/>
            </p:cNvCxnSpPr>
            <p:nvPr/>
          </p:nvCxnSpPr>
          <p:spPr>
            <a:xfrm>
              <a:off x="8402583" y="3119046"/>
              <a:ext cx="0" cy="165471"/>
            </a:xfrm>
            <a:prstGeom prst="line">
              <a:avLst/>
            </a:prstGeom>
            <a:grpFill/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3BC5D471-C9FA-9E12-EE68-669ABF0D66BE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AF0D7BF5-D76A-B225-D7FF-88B869524BF5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597A9117-CA34-7359-06C2-73566C920CFC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83898870-C5A7-D550-240D-CBB4C0880055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B76A29B2-150B-4F62-BDB1-B26F93870BE8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27E47162-F65B-36FE-F3E8-DA15A0325BC7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5AF3AA09-DDFE-3D50-49E9-E3193F7E8626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7C004539-21B4-04AB-05F0-2F058F603F8C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EEC6D37C-34C4-CB2D-4C28-B2FDE6A5AFA7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3FB6CDDD-AB55-24AD-F6D7-E03DFE9F8461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23C76911-F127-85D4-BEB0-117CFDB96E63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787EBD79-FA16-9246-DFDC-7406B63C97F1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CFD86E55-0E0D-749B-0266-051BA9D04DCB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03369CC7-CBA0-1229-727B-56CAEFDE3650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ED97CD6F-E56A-7040-8F30-398E7525AB54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CFF3EFE-6DEE-782E-7A60-6942DBE65981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BC181BB3-997A-4274-9F18-5EF0E5E1E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2E30B191-CBE3-043A-57E6-98E06E4697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7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CQC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0363480C-D9EA-5208-38D3-C29412A4D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3BB7F684-47F6-3A06-0573-4A86D7756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E09E2D-9042-5608-008C-8862F61A11E6}"/>
              </a:ext>
            </a:extLst>
          </p:cNvPr>
          <p:cNvSpPr txBox="1"/>
          <p:nvPr/>
        </p:nvSpPr>
        <p:spPr>
          <a:xfrm>
            <a:off x="3166585" y="4196567"/>
            <a:ext cx="155787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KLOE’S in centralized system 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1A39B0F1-4D01-9C05-4A67-A258033AA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BA251C9C-CD56-3D1D-D4E9-DEF6552B4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CF5F3C-55B9-E3A4-2FBB-E112C2306EAF}"/>
              </a:ext>
            </a:extLst>
          </p:cNvPr>
          <p:cNvSpPr txBox="1"/>
          <p:nvPr/>
        </p:nvSpPr>
        <p:spPr>
          <a:xfrm>
            <a:off x="5983948" y="2251892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complaints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3F1DE422-A18F-D7CE-A38C-56D919206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5DCB262-166E-C514-9060-29DA78DAF965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Outstanding Rating 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FA13316B-6108-AC8B-8D0B-4164D6E4B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6AD66A8-01BB-FC4B-0028-9DC27ECDE982}"/>
              </a:ext>
            </a:extLst>
          </p:cNvPr>
          <p:cNvSpPr txBox="1"/>
          <p:nvPr/>
        </p:nvSpPr>
        <p:spPr>
          <a:xfrm>
            <a:off x="8392757" y="2159777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Give partner access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34AAA60F-120B-3590-B36C-CD1DEBEFF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C640CAD3-AD97-F282-F5E9-57CF120487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9A04A75-1AF7-6A38-09E3-3F2394354A88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Manual Spreadsheets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952F4-F1DB-0EDD-E3FE-D3016F6BD903}"/>
              </a:ext>
            </a:extLst>
          </p:cNvPr>
          <p:cNvSpPr txBox="1"/>
          <p:nvPr/>
        </p:nvSpPr>
        <p:spPr>
          <a:xfrm>
            <a:off x="600388" y="4335067"/>
            <a:ext cx="165040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Difficulty showing evidence of compliance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7B28F8BB-2696-3320-837D-79140635A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8463E8F1-6419-A7D7-04A1-3132AFDFD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BB85629-A557-5EA7-E715-D72E033300A5}"/>
              </a:ext>
            </a:extLst>
          </p:cNvPr>
          <p:cNvSpPr txBox="1"/>
          <p:nvPr/>
        </p:nvSpPr>
        <p:spPr>
          <a:xfrm>
            <a:off x="3945520" y="2285613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Collate evidence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0CE98B72-205A-3989-A04D-14DE29587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2630B6E-64AC-D156-0A7D-8B8635AD26A0}"/>
              </a:ext>
            </a:extLst>
          </p:cNvPr>
          <p:cNvSpPr txBox="1"/>
          <p:nvPr/>
        </p:nvSpPr>
        <p:spPr>
          <a:xfrm>
            <a:off x="4824567" y="4310302"/>
            <a:ext cx="159828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Upload documentation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257FC528-DD3B-ECD1-A36D-4D8186DE0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38D33BB-709E-5EE9-6218-74838046F2EC}"/>
              </a:ext>
            </a:extLst>
          </p:cNvPr>
          <p:cNvSpPr txBox="1"/>
          <p:nvPr/>
        </p:nvSpPr>
        <p:spPr>
          <a:xfrm>
            <a:off x="7222105" y="4312025"/>
            <a:ext cx="1598282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Safeguarding, significant events, whistleblowing with confidence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F557C7-D1AB-AAA7-9715-3F869A08A1A5}"/>
              </a:ext>
            </a:extLst>
          </p:cNvPr>
          <p:cNvSpPr txBox="1"/>
          <p:nvPr/>
        </p:nvSpPr>
        <p:spPr>
          <a:xfrm>
            <a:off x="9452124" y="4300623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Conduct audits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06D828-FCC7-111C-C6A6-530092EF636D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240420-2108-3F9F-952D-BE4ED2E89B2E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580B499-0834-7177-8B06-193D0B5CE82F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FC7DA19B-B7A2-544A-F685-A863AD80911F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248E6D08-4ED4-4428-E584-8CE31CE43975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9283230A-35BF-F147-369F-DBA0F4C5FEC8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242FF05-2E00-FD2D-E7BA-2F15FDAF1D01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3843701E-5ABD-5DF6-1924-9529A84DA35C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93759B6F-7A7B-F497-ED8B-B4EE43D8455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467E8D5D-7CEE-7570-8A6A-82319276151C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31424C91-59ED-D1B2-61B1-717D28C95E5B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491B2CA0-55E4-3782-1235-1244057B1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143CF758-50BF-7EB4-6035-3F8691087861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8DFA3A42-0A3A-8FDD-9613-3E82E6C9C0C4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1EA9B8FD-6B12-F161-DB88-8A5DDCF71570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B0874B6B-FA0D-D5D8-A3BD-7AB103E64738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A76BAFA4-56AB-DEC0-E366-5AF73CAACBB4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56BC0C3D-C5E0-C1B9-6505-04FEDF167B84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1ADA9448-EDA2-B8F9-BA0F-A2C33D417A05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287080CE-C035-A9FC-0C38-2D2D23B8DCE9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80AC885E-424F-9D63-E4A0-E9E1B7FE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ECD6759C-A3D7-4D20-A518-E78F5326FA98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AE3E72A9-F1BD-A834-2D38-E32F31F8E69F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CD9DEB69-7D09-0A76-C4E2-2BE92D42CED6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9E75565E-6D37-D916-8924-B0069971E62A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A02A19A2-5A65-3637-3A86-AE7BD3462F4C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1661E315-9ABC-CE8A-E0B3-67BEB84E6872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8AA49492-65F7-D72F-F002-A49CE698D97E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13C77315-069D-1CDC-4A31-5ABAF524EA3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13AAD9EB-94B8-CCC5-3A3A-B988120FABD1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5965689D-FE6D-FE0F-01B8-223C9DA7F53B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F90BF51-3260-2E53-BEC6-4A8CE3B91802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8D6E7F29-192E-C393-7E14-06CA22B97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FF97FA1B-408C-0E8F-EAD1-80430B68D1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8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Compliance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44C9976D-203A-DDE9-83CF-FEF7EA1CD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920CB257-C23A-FAA9-71B5-21F2D2F01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D72D96-6513-89A9-74C7-E5DC1C32D9F7}"/>
              </a:ext>
            </a:extLst>
          </p:cNvPr>
          <p:cNvSpPr txBox="1"/>
          <p:nvPr/>
        </p:nvSpPr>
        <p:spPr>
          <a:xfrm>
            <a:off x="3166585" y="4196567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Access to 100’s of toolkits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436C85CE-50E1-96E2-2BA6-56F43D6DB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9AD34E75-F5F5-09BB-5D30-E79E4789C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DC0C31-3C80-0944-6E25-903722308431}"/>
              </a:ext>
            </a:extLst>
          </p:cNvPr>
          <p:cNvSpPr txBox="1"/>
          <p:nvPr/>
        </p:nvSpPr>
        <p:spPr>
          <a:xfrm>
            <a:off x="5983948" y="2251892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Evidence progress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699071E8-22DC-3AFA-C9CF-344E7810A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06EA29-5591-047F-C1E3-DDED09386B58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ISO accreditation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A0B2A90C-FEDD-FA1E-9FED-7EC0F5438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C8E79F-4BA0-C8D5-EB19-5B31FDEFE2AE}"/>
              </a:ext>
            </a:extLst>
          </p:cNvPr>
          <p:cNvSpPr txBox="1"/>
          <p:nvPr/>
        </p:nvSpPr>
        <p:spPr>
          <a:xfrm>
            <a:off x="8397421" y="1958716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 status 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935730F6-5646-21E6-B19C-FC744B3D6B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6BAC1FE9-346F-3625-7EB5-E04F3CDA1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C443C6F-D58B-8D8F-21B8-707D705C4185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Paper based compliance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C21516-99A0-271D-6A2A-F6C78476F9C5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guidance 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FC432E98-A608-4CB8-0325-1766143B6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AA7616E1-9122-D1D2-82D2-3FAEF234E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78C434C-3DB2-49BE-8FB8-6B51572FED07}"/>
              </a:ext>
            </a:extLst>
          </p:cNvPr>
          <p:cNvSpPr txBox="1"/>
          <p:nvPr/>
        </p:nvSpPr>
        <p:spPr>
          <a:xfrm>
            <a:off x="3945520" y="2285613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Directory for clauses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3B3A3E5B-E6B6-3122-0290-C4346B824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657977F-2FC6-83DB-2038-D5EAC152399E}"/>
              </a:ext>
            </a:extLst>
          </p:cNvPr>
          <p:cNvSpPr txBox="1"/>
          <p:nvPr/>
        </p:nvSpPr>
        <p:spPr>
          <a:xfrm>
            <a:off x="4824568" y="4310302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1316A00C-3B7F-8774-BEDE-390719E69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6D37132-E2A1-60D5-4419-E19C3A7B3FDA}"/>
              </a:ext>
            </a:extLst>
          </p:cNvPr>
          <p:cNvSpPr txBox="1"/>
          <p:nvPr/>
        </p:nvSpPr>
        <p:spPr>
          <a:xfrm>
            <a:off x="7222105" y="4312025"/>
            <a:ext cx="1598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D132E8-723F-6A45-B165-9F3A545AFEE2}"/>
              </a:ext>
            </a:extLst>
          </p:cNvPr>
          <p:cNvSpPr txBox="1"/>
          <p:nvPr/>
        </p:nvSpPr>
        <p:spPr>
          <a:xfrm>
            <a:off x="9452124" y="4300623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Auditor access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6BCB3E-77CC-C279-1A1F-491DC0D0E0DA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711D0C2-3C98-09CE-3F1D-24C040A713EE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9915E8-89E3-D400-A756-31F7963E533B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92C7432E-3D35-5BCA-4B4A-791A5448F2B4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FB271B88-627B-DDF2-BFC5-05C753EF2029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D6B25F61-5B5F-9694-11AA-BE4E11ED3A74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FD8C15C1-809B-594B-D7F2-4BE5603E3D5E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D0390A82-9BE7-56C0-2256-C6B87005B158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D9F208FD-0502-ACC4-4074-5439850BD13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B465F5F7-1D2B-11E8-E04A-272412AFF4BD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4E97B511-AABA-0701-5176-4D61EF0E866C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8E4EC9B2-EA76-5E95-1249-193301E8520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E9DC819C-E18D-EF5B-03B8-70596443C072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6BB80192-CA8F-10E7-538F-8BDAA2A43AA9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804F2E34-7F19-155C-0FBB-D432AD2CB047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F3FB4879-1E0F-2971-0756-08E85A5E39BA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E17B05AA-8774-3671-5656-231C3E78322D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667E0728-9357-7BBC-D771-295061134D96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CA151E35-FD43-0A25-96C8-33A5E7B496FE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521AA257-905A-7962-76C5-0D84F9115B15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26F2EC7A-D530-BA84-AB8F-820362570896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BC634481-AFA1-F0FC-7844-C8CAA5CAFB96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622C551E-9C5C-B79A-A9FB-1F853132CCC7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B8348302-E659-01EC-CFD5-183E24D34437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14E3C97F-E654-2DAD-EFA7-55B8722DE185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26684A89-F78D-25DD-BBA0-10AD89611873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73023BC1-255E-9370-845B-535723B6C170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FAA2C4E2-F81C-D3F3-E9AC-B8D5CD95E094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C153DB3B-7A41-293F-38CF-F3A38F745D5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4ED7AAEB-555A-060D-18E1-1BE9DFA09B3D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D9BE2F70-E02B-8BA2-D4EE-B23B9B1391B4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E283EFF-721E-C782-F869-F595B7175B5C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0783EC79-0C8B-2821-37F3-F0BE7047E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31C2FD3F-D387-A9E0-95A7-F4E483685F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75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CRM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E35537D4-B625-6D1B-81FD-144CCC24E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6DD441EC-BF2E-40AC-9A62-05AE3568F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1CC868-05F9-FC2D-2733-3D49C38234C2}"/>
              </a:ext>
            </a:extLst>
          </p:cNvPr>
          <p:cNvSpPr txBox="1"/>
          <p:nvPr/>
        </p:nvSpPr>
        <p:spPr>
          <a:xfrm>
            <a:off x="3166585" y="4196567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customers 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674E0277-3737-47B6-A342-43C587EA1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AC76795A-906F-EB88-BECF-D2B3E0C6F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430EEE-D22C-91BE-7237-A92DDCFCFD53}"/>
              </a:ext>
            </a:extLst>
          </p:cNvPr>
          <p:cNvSpPr txBox="1"/>
          <p:nvPr/>
        </p:nvSpPr>
        <p:spPr>
          <a:xfrm>
            <a:off x="5983948" y="2251892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36E0D516-9FEC-5321-1397-E4C267D22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8F5718-4117-E575-B451-1B57A6ADEE28}"/>
              </a:ext>
            </a:extLst>
          </p:cNvPr>
          <p:cNvSpPr txBox="1"/>
          <p:nvPr/>
        </p:nvSpPr>
        <p:spPr>
          <a:xfrm>
            <a:off x="9888918" y="2162994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Scale up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980B192B-8646-2E45-7051-A12C53BB6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3677F73-1407-CD3D-8F95-42E1DF2766FD}"/>
              </a:ext>
            </a:extLst>
          </p:cNvPr>
          <p:cNvSpPr txBox="1"/>
          <p:nvPr/>
        </p:nvSpPr>
        <p:spPr>
          <a:xfrm>
            <a:off x="8397421" y="1958716"/>
            <a:ext cx="159903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Contextualised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personal Dashboard 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BB2AEB5C-783A-0C61-0220-F8D261D07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4A8B32EE-0873-8B00-BBEC-CB4AA7227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1E2F64A-5CEF-B76E-03B9-60BADF774F27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Expensive solutions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40E61B-D8DE-3E13-6B75-E85FDD206BD1}"/>
              </a:ext>
            </a:extLst>
          </p:cNvPr>
          <p:cNvSpPr txBox="1"/>
          <p:nvPr/>
        </p:nvSpPr>
        <p:spPr>
          <a:xfrm>
            <a:off x="600388" y="4335067"/>
            <a:ext cx="165040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Lack of customer engagement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508EA88B-EC12-7D62-8500-2128457DA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AF7E887A-E754-F915-01CE-0144073DA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F99BD84-62B8-D1AD-89E2-43A08216E6C3}"/>
              </a:ext>
            </a:extLst>
          </p:cNvPr>
          <p:cNvSpPr txBox="1"/>
          <p:nvPr/>
        </p:nvSpPr>
        <p:spPr>
          <a:xfrm>
            <a:off x="3945520" y="2285613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directory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14D96E05-C415-D4DC-DC58-5EEFF4D31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390FDD3-08B7-D036-AA6C-D531F0A5C600}"/>
              </a:ext>
            </a:extLst>
          </p:cNvPr>
          <p:cNvSpPr txBox="1"/>
          <p:nvPr/>
        </p:nvSpPr>
        <p:spPr>
          <a:xfrm>
            <a:off x="4824568" y="4310302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invoice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C2C46EEB-FB47-4B3D-AD34-28B412BE4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76C3242-6076-806F-2464-8D467DF09CDB}"/>
              </a:ext>
            </a:extLst>
          </p:cNvPr>
          <p:cNvSpPr txBox="1"/>
          <p:nvPr/>
        </p:nvSpPr>
        <p:spPr>
          <a:xfrm>
            <a:off x="7222105" y="4312025"/>
            <a:ext cx="15982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collaboratively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B97CA3-56B5-FE10-753C-5575D275A79A}"/>
              </a:ext>
            </a:extLst>
          </p:cNvPr>
          <p:cNvSpPr txBox="1"/>
          <p:nvPr/>
        </p:nvSpPr>
        <p:spPr>
          <a:xfrm>
            <a:off x="9452124" y="4300623"/>
            <a:ext cx="166369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customers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7FF707-7616-0CB2-8635-DD97EC24A3FE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AD796C-90EB-744B-27C4-BE69B1BA202D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453008-E4DB-5523-A34F-8DA94EBD30BA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B6FE4BDB-8066-3813-CFAD-A5924A7CB298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F280ECAC-DA3A-53E8-BC17-5F1521A098BD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6E86624F-002E-9987-2F5D-1339C92B4E7C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E671ECB-6C7C-0BD5-C15D-8B22F5594B4F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06B20FF2-9EFB-5627-AE8F-E09449621F97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2EED8F83-FD8F-298E-A844-6C329AEBCDCF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29EBB19A-21BF-E6BB-7843-5E45C7B7A0B2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B459DDBA-5C02-FA41-650F-AC6CF2E21C08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F741188F-04A0-50D0-E4FA-1C87746887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8F0D3EE5-526B-3148-CFAE-CAEDB1D5DF62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FDBBF3CA-6AAF-210C-FEED-FE848022DBCE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D45D841D-9FD2-40AE-7F19-CADAB494C976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22C76BBE-0BCD-C5EA-54FF-1C8150A0FE45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A0C51014-0CB7-1395-E512-C67660B42FEB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98DCBBE1-49CB-5CF8-5690-2F86AF1BAB8E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2A5FCAFC-E5CA-D1E2-9E2D-8F237CE7F9B7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4584A2AE-BF09-073A-B10E-BD47AF000169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381C2808-BDA6-98DC-F015-4935ED085C6E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536F6316-BDE2-028A-FCB0-3F03585D77FE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3EB4DCD4-EE8B-E6EF-C233-CC37D170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8CFF3F90-2182-EECC-B9C0-0D0B26227603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698D88D2-4DD3-BA3F-F8C7-E3579B432174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8EEB9DD6-95F4-8754-6584-6CB310C33C0C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D168A81F-3953-7208-1E45-E1FCDB1ED5D7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25EF4FE6-7665-F7B5-D5CE-287F8CDC7616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416DA7F3-96C6-84A6-1EAC-34E85A45E5C1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D32145F8-2DE3-47F0-866A-69E9B24B4418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9" name="Group 118" title="Today Flag Icon">
            <a:extLst>
              <a:ext uri="{FF2B5EF4-FFF2-40B4-BE49-F238E27FC236}">
                <a16:creationId xmlns:a16="http://schemas.microsoft.com/office/drawing/2014/main" id="{39B3F8DC-CFC8-B4C1-B1E0-0A812F9EE715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80C0DB3-D76D-0B45-B75A-4DC687396811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1" name="Graphic 120" title="Flag Icon">
              <a:extLst>
                <a:ext uri="{FF2B5EF4-FFF2-40B4-BE49-F238E27FC236}">
                  <a16:creationId xmlns:a16="http://schemas.microsoft.com/office/drawing/2014/main" id="{08293F63-408D-F54F-C6CA-3D8E46682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2" name="Graphic 121" descr="Flag outline">
            <a:extLst>
              <a:ext uri="{FF2B5EF4-FFF2-40B4-BE49-F238E27FC236}">
                <a16:creationId xmlns:a16="http://schemas.microsoft.com/office/drawing/2014/main" id="{BA45311F-3B8B-7054-A701-58E2423002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8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Supplier Management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1A39CA7B-3261-3386-1EE7-8249BC83B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34D5AEA8-42A5-B447-7446-AFD3460F5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A1A773-A558-043A-0B95-2CDA0538AAF4}"/>
              </a:ext>
            </a:extLst>
          </p:cNvPr>
          <p:cNvSpPr txBox="1"/>
          <p:nvPr/>
        </p:nvSpPr>
        <p:spPr>
          <a:xfrm>
            <a:off x="3166585" y="4196567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Suppliers 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7FAAC625-1504-9B4B-7FEC-38CECD68B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4D89529A-E773-B3FE-BBE4-FF3509EBA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0AB64A-3E45-7F51-E1E2-2A59449E5D8B}"/>
              </a:ext>
            </a:extLst>
          </p:cNvPr>
          <p:cNvSpPr txBox="1"/>
          <p:nvPr/>
        </p:nvSpPr>
        <p:spPr>
          <a:xfrm>
            <a:off x="5764523" y="1952240"/>
            <a:ext cx="1721507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SLA, Contracts, service charter 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D6B9236D-33B3-CA1C-B882-D8BDA8841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89B174-3B83-B1CD-4E26-F7C808D64B7E}"/>
              </a:ext>
            </a:extLst>
          </p:cNvPr>
          <p:cNvSpPr txBox="1"/>
          <p:nvPr/>
        </p:nvSpPr>
        <p:spPr>
          <a:xfrm>
            <a:off x="9888918" y="2162994"/>
            <a:ext cx="12947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100% Compliant</a:t>
            </a:r>
          </a:p>
        </p:txBody>
      </p:sp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84B5E568-8F24-04D0-902A-A9E52415F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AEF302-9DC2-E52D-9262-45E4BB722C46}"/>
              </a:ext>
            </a:extLst>
          </p:cNvPr>
          <p:cNvSpPr txBox="1"/>
          <p:nvPr/>
        </p:nvSpPr>
        <p:spPr>
          <a:xfrm>
            <a:off x="8397421" y="1958716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and Renew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7E1DFEE9-E225-1C2B-9136-2AE40E1D5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2CE6BB9C-7E7A-C027-4D84-971E04329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820428-9EFA-CB9F-44C9-3D2E6DB9B37D}"/>
              </a:ext>
            </a:extLst>
          </p:cNvPr>
          <p:cNvSpPr txBox="1"/>
          <p:nvPr/>
        </p:nvSpPr>
        <p:spPr>
          <a:xfrm>
            <a:off x="681570" y="2229239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Managing from a book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0C1426-3423-0111-F8D4-D6C2D60A41DD}"/>
              </a:ext>
            </a:extLst>
          </p:cNvPr>
          <p:cNvSpPr txBox="1"/>
          <p:nvPr/>
        </p:nvSpPr>
        <p:spPr>
          <a:xfrm>
            <a:off x="600388" y="4335067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Breakdown of relationship 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32298801-24FB-7837-D235-7C28EED35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1FF83602-28BC-C6B3-7BFA-6F2480570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C39BFD5-1B39-8FCB-E3D4-1E9BC2D86717}"/>
              </a:ext>
            </a:extLst>
          </p:cNvPr>
          <p:cNvSpPr txBox="1"/>
          <p:nvPr/>
        </p:nvSpPr>
        <p:spPr>
          <a:xfrm>
            <a:off x="3945520" y="2285613"/>
            <a:ext cx="1294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 refence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30F7982B-BAC9-B216-A95D-F02F65C79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DD94BC8-753D-74B5-21D9-9E417B8FD39A}"/>
              </a:ext>
            </a:extLst>
          </p:cNvPr>
          <p:cNvSpPr txBox="1"/>
          <p:nvPr/>
        </p:nvSpPr>
        <p:spPr>
          <a:xfrm>
            <a:off x="4824568" y="4310302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Interactions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BDD25D53-3AD2-BB67-979C-2905E85A8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06F74F7-AFA6-6676-E8B2-4F166AAFB16D}"/>
              </a:ext>
            </a:extLst>
          </p:cNvPr>
          <p:cNvSpPr txBox="1"/>
          <p:nvPr/>
        </p:nvSpPr>
        <p:spPr>
          <a:xfrm>
            <a:off x="7222105" y="4312025"/>
            <a:ext cx="159828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Set performance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Kpi’s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objectives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DDCC4D-5677-6A30-B2F5-061D4AA22488}"/>
              </a:ext>
            </a:extLst>
          </p:cNvPr>
          <p:cNvSpPr txBox="1"/>
          <p:nvPr/>
        </p:nvSpPr>
        <p:spPr>
          <a:xfrm>
            <a:off x="9452124" y="4300623"/>
            <a:ext cx="166369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 relationship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grpSp>
        <p:nvGrpSpPr>
          <p:cNvPr id="82" name="Group 81" title="Today Flag Icon">
            <a:extLst>
              <a:ext uri="{FF2B5EF4-FFF2-40B4-BE49-F238E27FC236}">
                <a16:creationId xmlns:a16="http://schemas.microsoft.com/office/drawing/2014/main" id="{BE0B3096-92F1-D026-BF1B-077FF1948B3A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91ECAB2-C3E6-B45F-72B3-6CBC67314D45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84" name="Graphic 83" title="Flag Icon">
              <a:extLst>
                <a:ext uri="{FF2B5EF4-FFF2-40B4-BE49-F238E27FC236}">
                  <a16:creationId xmlns:a16="http://schemas.microsoft.com/office/drawing/2014/main" id="{CF7ACBF3-EB7C-323B-38B8-DBD629174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2420DB76-9434-D54B-98DF-2852091F5216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327127-EAE2-28E3-1311-0D90C76D5111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1769160-1098-582B-330A-62598C3C294B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88" name="Straight Connector 87" title="Q lines">
            <a:extLst>
              <a:ext uri="{FF2B5EF4-FFF2-40B4-BE49-F238E27FC236}">
                <a16:creationId xmlns:a16="http://schemas.microsoft.com/office/drawing/2014/main" id="{9392B74E-7FB3-3D1E-0539-2B088BD2F03F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 title="Q lines">
            <a:extLst>
              <a:ext uri="{FF2B5EF4-FFF2-40B4-BE49-F238E27FC236}">
                <a16:creationId xmlns:a16="http://schemas.microsoft.com/office/drawing/2014/main" id="{4E0DF340-54BE-A571-E173-7E88A28DADAC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36E76D9F-F169-727F-078D-69F0A4CEC162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Flag outline">
            <a:extLst>
              <a:ext uri="{FF2B5EF4-FFF2-40B4-BE49-F238E27FC236}">
                <a16:creationId xmlns:a16="http://schemas.microsoft.com/office/drawing/2014/main" id="{05F1EA9C-781D-762E-C5CA-30F894FF7F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17B48AD-2AE2-1874-2246-EC6B28A607F9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4" name="Group 93" title="Year 4">
            <a:extLst>
              <a:ext uri="{FF2B5EF4-FFF2-40B4-BE49-F238E27FC236}">
                <a16:creationId xmlns:a16="http://schemas.microsoft.com/office/drawing/2014/main" id="{3FD6272E-C8C4-5C7D-CC4B-EAB3C92101F9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5" name="Straight Connector 94" title="Q lines">
              <a:extLst>
                <a:ext uri="{FF2B5EF4-FFF2-40B4-BE49-F238E27FC236}">
                  <a16:creationId xmlns:a16="http://schemas.microsoft.com/office/drawing/2014/main" id="{CDD496F4-1609-D669-113C-4CF37B54E34E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 title="Q lines">
              <a:extLst>
                <a:ext uri="{FF2B5EF4-FFF2-40B4-BE49-F238E27FC236}">
                  <a16:creationId xmlns:a16="http://schemas.microsoft.com/office/drawing/2014/main" id="{2D1E58BE-9642-1425-3B76-DB3CF1845B93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rrow: Right 96" title="Year Arrow">
              <a:extLst>
                <a:ext uri="{FF2B5EF4-FFF2-40B4-BE49-F238E27FC236}">
                  <a16:creationId xmlns:a16="http://schemas.microsoft.com/office/drawing/2014/main" id="{3D01547F-80D5-6799-D1D1-9FCF5E5C1534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984137F7-2DF0-4690-E264-28B5596FB4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7C1FB7B9-E4BF-E0B7-F198-FBEC0F5A17B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 title="Year 3">
            <a:extLst>
              <a:ext uri="{FF2B5EF4-FFF2-40B4-BE49-F238E27FC236}">
                <a16:creationId xmlns:a16="http://schemas.microsoft.com/office/drawing/2014/main" id="{E14A409D-FE63-3AAA-958F-E7825B2C5AAB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7D76FEC1-81CE-BDB8-AA49-B371F1D8E6F6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 title="Year Arrow">
              <a:extLst>
                <a:ext uri="{FF2B5EF4-FFF2-40B4-BE49-F238E27FC236}">
                  <a16:creationId xmlns:a16="http://schemas.microsoft.com/office/drawing/2014/main" id="{B682CF17-0B45-07A9-128C-6500F4EA159D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8B3C8641-C7C8-A7CB-6F22-8FED3ABA74EE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 title="Q lines">
              <a:extLst>
                <a:ext uri="{FF2B5EF4-FFF2-40B4-BE49-F238E27FC236}">
                  <a16:creationId xmlns:a16="http://schemas.microsoft.com/office/drawing/2014/main" id="{CD48AF65-113E-2D20-370D-57E55C5C2684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 title="Year 2">
            <a:extLst>
              <a:ext uri="{FF2B5EF4-FFF2-40B4-BE49-F238E27FC236}">
                <a16:creationId xmlns:a16="http://schemas.microsoft.com/office/drawing/2014/main" id="{10178983-AD89-3D71-5326-B64BA58A9E9B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7" name="Arrow: Right 106" title="Year Arrow">
              <a:extLst>
                <a:ext uri="{FF2B5EF4-FFF2-40B4-BE49-F238E27FC236}">
                  <a16:creationId xmlns:a16="http://schemas.microsoft.com/office/drawing/2014/main" id="{DEF9D3F4-3710-4A84-A394-7F6F97E463D4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09" name="Straight Connector 108" title="Q lines">
              <a:extLst>
                <a:ext uri="{FF2B5EF4-FFF2-40B4-BE49-F238E27FC236}">
                  <a16:creationId xmlns:a16="http://schemas.microsoft.com/office/drawing/2014/main" id="{9E7FE09B-F2B1-456F-30C7-619CBC468A01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 title="Q lines">
              <a:extLst>
                <a:ext uri="{FF2B5EF4-FFF2-40B4-BE49-F238E27FC236}">
                  <a16:creationId xmlns:a16="http://schemas.microsoft.com/office/drawing/2014/main" id="{879F03F6-1FF9-F793-0BB7-A1BE666CDC18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06E14675-9266-7870-E599-5B555DAFF9DA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 title="Year 1">
            <a:extLst>
              <a:ext uri="{FF2B5EF4-FFF2-40B4-BE49-F238E27FC236}">
                <a16:creationId xmlns:a16="http://schemas.microsoft.com/office/drawing/2014/main" id="{D0250237-B717-549F-BAE8-A7845E094E87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0C3CC2B8-86C8-8F8D-82AB-6C5B81E9A44B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 title="Year Arrow">
              <a:extLst>
                <a:ext uri="{FF2B5EF4-FFF2-40B4-BE49-F238E27FC236}">
                  <a16:creationId xmlns:a16="http://schemas.microsoft.com/office/drawing/2014/main" id="{4E1399FE-5308-D241-DC05-FA925951B03B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1553A82F-9292-0822-BFAE-2A4E051659AD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FB784F1C-EC6F-18F0-1965-74527F512F80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475FC8CC-4B93-9D86-E544-86CA38D6CF81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 title="Quarter Number">
              <a:extLst>
                <a:ext uri="{FF2B5EF4-FFF2-40B4-BE49-F238E27FC236}">
                  <a16:creationId xmlns:a16="http://schemas.microsoft.com/office/drawing/2014/main" id="{7FCCF387-D322-2783-EF77-128AD12AC5E8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17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Document Management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5C6DD41B-816E-7499-0F5A-2BA05C993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EC8F6B86-15E8-BE36-B608-621285EDC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23D9A6-BB37-8501-4A8E-79E5DED6EE6F}"/>
              </a:ext>
            </a:extLst>
          </p:cNvPr>
          <p:cNvSpPr txBox="1"/>
          <p:nvPr/>
        </p:nvSpPr>
        <p:spPr>
          <a:xfrm>
            <a:off x="4703228" y="4179878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 library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C05704BE-075E-A626-B304-F985415AC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090421FA-7078-D147-FAF2-48EAB9388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8FC8F6-0D0B-FB58-6816-49E59E56DFDF}"/>
              </a:ext>
            </a:extLst>
          </p:cNvPr>
          <p:cNvSpPr txBox="1"/>
          <p:nvPr/>
        </p:nvSpPr>
        <p:spPr>
          <a:xfrm>
            <a:off x="8343663" y="2376534"/>
            <a:ext cx="172150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Share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DD2867B8-C3EA-1829-31FB-9259B8F01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29A560A5-CEF0-8DC3-237A-E60BD5058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87DE52-0E68-76EB-2626-B3D3C3899457}"/>
              </a:ext>
            </a:extLst>
          </p:cNvPr>
          <p:cNvSpPr txBox="1"/>
          <p:nvPr/>
        </p:nvSpPr>
        <p:spPr>
          <a:xfrm>
            <a:off x="9526282" y="4229733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Take ownership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8271A3B9-9D74-1455-386F-053036FAB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F1FE609C-5772-81A7-10D1-AE681EF4B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359158" y="2801036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0482E0A-C84B-8C01-6714-822CC1414DD1}"/>
              </a:ext>
            </a:extLst>
          </p:cNvPr>
          <p:cNvSpPr txBox="1"/>
          <p:nvPr/>
        </p:nvSpPr>
        <p:spPr>
          <a:xfrm>
            <a:off x="681570" y="2229239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Locally stored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D3AA84-494F-DE08-3301-DB5EF58BDE35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Access difficulty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F6A6F9D1-DC3F-A676-A046-D42B1879B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594C5345-58DA-84E6-1823-136FDF39A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79FC765-EDE0-2172-D783-1A34CB476B6F}"/>
              </a:ext>
            </a:extLst>
          </p:cNvPr>
          <p:cNvSpPr txBox="1"/>
          <p:nvPr/>
        </p:nvSpPr>
        <p:spPr>
          <a:xfrm>
            <a:off x="3656574" y="1997905"/>
            <a:ext cx="2097127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Upload organizational, Department or personal files 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4E9F5E13-087D-E9FC-E0FB-4464F1E20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C957FE-9905-92CE-9A52-BE844C131D6E}"/>
              </a:ext>
            </a:extLst>
          </p:cNvPr>
          <p:cNvSpPr txBox="1"/>
          <p:nvPr/>
        </p:nvSpPr>
        <p:spPr>
          <a:xfrm>
            <a:off x="7126093" y="4195558"/>
            <a:ext cx="1422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Version control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A73F77A3-208D-55A5-E940-D28CFC83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E247F38-F2BF-F882-3879-494B2947D135}"/>
              </a:ext>
            </a:extLst>
          </p:cNvPr>
          <p:cNvSpPr txBox="1"/>
          <p:nvPr/>
        </p:nvSpPr>
        <p:spPr>
          <a:xfrm>
            <a:off x="9754128" y="2361980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DC9A68-DF9F-92A7-3D16-C2273593A561}"/>
              </a:ext>
            </a:extLst>
          </p:cNvPr>
          <p:cNvSpPr txBox="1"/>
          <p:nvPr/>
        </p:nvSpPr>
        <p:spPr>
          <a:xfrm>
            <a:off x="5889201" y="2369535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Classification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1104D3-FEA3-3A4C-A5DA-0EC305BEDAC6}"/>
              </a:ext>
            </a:extLst>
          </p:cNvPr>
          <p:cNvSpPr txBox="1"/>
          <p:nvPr/>
        </p:nvSpPr>
        <p:spPr>
          <a:xfrm>
            <a:off x="3177910" y="4169849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Paperless Solution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0370F5-E1F6-5B21-D7E4-3309C963C9AC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6EF3858-57FC-A51F-8457-C8CC394D000C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137969-F1CF-C566-F73A-B6C10CA4FD01}"/>
              </a:ext>
            </a:extLst>
          </p:cNvPr>
          <p:cNvSpPr txBox="1"/>
          <p:nvPr/>
        </p:nvSpPr>
        <p:spPr>
          <a:xfrm>
            <a:off x="10967411" y="300703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8D2C7D91-714E-F73C-45DF-1F9F6E12BBB9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title="Q lines">
            <a:extLst>
              <a:ext uri="{FF2B5EF4-FFF2-40B4-BE49-F238E27FC236}">
                <a16:creationId xmlns:a16="http://schemas.microsoft.com/office/drawing/2014/main" id="{83AF7C5E-9A7D-4DF2-4CE6-99BC81AA225D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 title="Q lines">
            <a:extLst>
              <a:ext uri="{FF2B5EF4-FFF2-40B4-BE49-F238E27FC236}">
                <a16:creationId xmlns:a16="http://schemas.microsoft.com/office/drawing/2014/main" id="{A0F3AED7-8961-49C3-DEF8-916C5CDC980D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4E7ED9F-C848-29D2-472C-E09A80DF8D4D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7" name="Group 96" title="Year 4">
            <a:extLst>
              <a:ext uri="{FF2B5EF4-FFF2-40B4-BE49-F238E27FC236}">
                <a16:creationId xmlns:a16="http://schemas.microsoft.com/office/drawing/2014/main" id="{EAD72182-3A5B-986E-817B-2564B9CE2981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6A5A6F0F-1842-FC40-BEFF-03C08F57BD97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 title="Q lines">
              <a:extLst>
                <a:ext uri="{FF2B5EF4-FFF2-40B4-BE49-F238E27FC236}">
                  <a16:creationId xmlns:a16="http://schemas.microsoft.com/office/drawing/2014/main" id="{6E975267-FAB6-DEE5-5D76-1BFE0D691F1C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Arrow: Right 99" title="Year Arrow">
              <a:extLst>
                <a:ext uri="{FF2B5EF4-FFF2-40B4-BE49-F238E27FC236}">
                  <a16:creationId xmlns:a16="http://schemas.microsoft.com/office/drawing/2014/main" id="{B3F918A4-243E-8A51-6C3D-B290EEFEAA0E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650CCC93-0061-3AEF-973F-99A25A516C03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 title="Q lines">
              <a:extLst>
                <a:ext uri="{FF2B5EF4-FFF2-40B4-BE49-F238E27FC236}">
                  <a16:creationId xmlns:a16="http://schemas.microsoft.com/office/drawing/2014/main" id="{E006A5BB-7457-EBB2-40A9-181B803737D3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 title="Year 3">
            <a:extLst>
              <a:ext uri="{FF2B5EF4-FFF2-40B4-BE49-F238E27FC236}">
                <a16:creationId xmlns:a16="http://schemas.microsoft.com/office/drawing/2014/main" id="{6FA5D51B-CF60-82F8-CA3C-53FFF73357AB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4" name="Straight Connector 103" title="Q lines">
              <a:extLst>
                <a:ext uri="{FF2B5EF4-FFF2-40B4-BE49-F238E27FC236}">
                  <a16:creationId xmlns:a16="http://schemas.microsoft.com/office/drawing/2014/main" id="{675BCE85-A4D0-58BB-2D42-068860B09012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Arrow: Right 104" title="Year Arrow">
              <a:extLst>
                <a:ext uri="{FF2B5EF4-FFF2-40B4-BE49-F238E27FC236}">
                  <a16:creationId xmlns:a16="http://schemas.microsoft.com/office/drawing/2014/main" id="{B42324AC-D5C9-CD21-E69D-E030994C00E2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7" name="Straight Connector 106" title="Q lines">
              <a:extLst>
                <a:ext uri="{FF2B5EF4-FFF2-40B4-BE49-F238E27FC236}">
                  <a16:creationId xmlns:a16="http://schemas.microsoft.com/office/drawing/2014/main" id="{1302C4B6-A056-51D9-6D92-88D8690CBDB4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 title="Q lines">
              <a:extLst>
                <a:ext uri="{FF2B5EF4-FFF2-40B4-BE49-F238E27FC236}">
                  <a16:creationId xmlns:a16="http://schemas.microsoft.com/office/drawing/2014/main" id="{E0DB9BF8-483B-6B14-2E25-4C281CDC3556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 title="Year 2">
            <a:extLst>
              <a:ext uri="{FF2B5EF4-FFF2-40B4-BE49-F238E27FC236}">
                <a16:creationId xmlns:a16="http://schemas.microsoft.com/office/drawing/2014/main" id="{346964CB-A62F-8224-D77A-164CC8D6F865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10" name="Arrow: Right 109" title="Year Arrow">
              <a:extLst>
                <a:ext uri="{FF2B5EF4-FFF2-40B4-BE49-F238E27FC236}">
                  <a16:creationId xmlns:a16="http://schemas.microsoft.com/office/drawing/2014/main" id="{C75FF53F-2C0E-4DC7-E00E-2B9667CD92BB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12" name="Straight Connector 111" title="Q lines">
              <a:extLst>
                <a:ext uri="{FF2B5EF4-FFF2-40B4-BE49-F238E27FC236}">
                  <a16:creationId xmlns:a16="http://schemas.microsoft.com/office/drawing/2014/main" id="{D986B235-A52E-EFFB-45AE-783BCAEBB65E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93F0388A-D025-0A7D-A24B-2BBCD9E61E2B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 title="Q lines">
              <a:extLst>
                <a:ext uri="{FF2B5EF4-FFF2-40B4-BE49-F238E27FC236}">
                  <a16:creationId xmlns:a16="http://schemas.microsoft.com/office/drawing/2014/main" id="{D013489F-A124-0488-FB60-33D573383A4D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 title="Year 1">
            <a:extLst>
              <a:ext uri="{FF2B5EF4-FFF2-40B4-BE49-F238E27FC236}">
                <a16:creationId xmlns:a16="http://schemas.microsoft.com/office/drawing/2014/main" id="{18933C64-F800-8201-D8C3-A6C2CCAE30D1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6" name="Straight Connector 115" title="Q lines">
              <a:extLst>
                <a:ext uri="{FF2B5EF4-FFF2-40B4-BE49-F238E27FC236}">
                  <a16:creationId xmlns:a16="http://schemas.microsoft.com/office/drawing/2014/main" id="{750DAD35-AFB2-239C-E50B-59F610D4AE20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Arrow: Right 116" title="Year Arrow">
              <a:extLst>
                <a:ext uri="{FF2B5EF4-FFF2-40B4-BE49-F238E27FC236}">
                  <a16:creationId xmlns:a16="http://schemas.microsoft.com/office/drawing/2014/main" id="{76BB1A6B-0511-523E-95AD-CBE8F4AC29F2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8" name="Straight Connector 117" title="Q lines">
              <a:extLst>
                <a:ext uri="{FF2B5EF4-FFF2-40B4-BE49-F238E27FC236}">
                  <a16:creationId xmlns:a16="http://schemas.microsoft.com/office/drawing/2014/main" id="{0C2E37CA-9600-0D63-7E07-7F7ADE7AFDB5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 title="Q lines">
              <a:extLst>
                <a:ext uri="{FF2B5EF4-FFF2-40B4-BE49-F238E27FC236}">
                  <a16:creationId xmlns:a16="http://schemas.microsoft.com/office/drawing/2014/main" id="{06B01E59-0DDF-1E5F-FC90-B8DE961EBEB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 title="Q lines">
              <a:extLst>
                <a:ext uri="{FF2B5EF4-FFF2-40B4-BE49-F238E27FC236}">
                  <a16:creationId xmlns:a16="http://schemas.microsoft.com/office/drawing/2014/main" id="{44FB53D9-764E-A885-1890-F8FBC784A312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 title="Quarter Number">
              <a:extLst>
                <a:ext uri="{FF2B5EF4-FFF2-40B4-BE49-F238E27FC236}">
                  <a16:creationId xmlns:a16="http://schemas.microsoft.com/office/drawing/2014/main" id="{37EAF520-9246-F699-1A90-51A0414CD538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2" name="Group 121" title="Today Flag Icon">
            <a:extLst>
              <a:ext uri="{FF2B5EF4-FFF2-40B4-BE49-F238E27FC236}">
                <a16:creationId xmlns:a16="http://schemas.microsoft.com/office/drawing/2014/main" id="{435F8C00-DFF9-009F-98AB-F4F6CCC2E3F0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E094DD4-D66D-BBFD-BA61-3C59725222D8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4" name="Graphic 123" title="Flag Icon">
              <a:extLst>
                <a:ext uri="{FF2B5EF4-FFF2-40B4-BE49-F238E27FC236}">
                  <a16:creationId xmlns:a16="http://schemas.microsoft.com/office/drawing/2014/main" id="{C7A7F219-C493-9EF5-652F-2639DD40B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5" name="Graphic 124" descr="Flag outline">
            <a:extLst>
              <a:ext uri="{FF2B5EF4-FFF2-40B4-BE49-F238E27FC236}">
                <a16:creationId xmlns:a16="http://schemas.microsoft.com/office/drawing/2014/main" id="{DB719CE3-95DF-D37C-FDFD-9878D10EE8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4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Task Manager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5C6DD41B-816E-7499-0F5A-2BA05C993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EC8F6B86-15E8-BE36-B608-621285EDC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23D9A6-BB37-8501-4A8E-79E5DED6EE6F}"/>
              </a:ext>
            </a:extLst>
          </p:cNvPr>
          <p:cNvSpPr txBox="1"/>
          <p:nvPr/>
        </p:nvSpPr>
        <p:spPr>
          <a:xfrm>
            <a:off x="4703228" y="4179878"/>
            <a:ext cx="155787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Collaborate with team (work on projects)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C05704BE-075E-A626-B304-F985415AC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090421FA-7078-D147-FAF2-48EAB9388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8FC8F6-0D0B-FB58-6816-49E59E56DFDF}"/>
              </a:ext>
            </a:extLst>
          </p:cNvPr>
          <p:cNvSpPr txBox="1"/>
          <p:nvPr/>
        </p:nvSpPr>
        <p:spPr>
          <a:xfrm>
            <a:off x="8338965" y="2240938"/>
            <a:ext cx="172150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Collate evidence of work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DD2867B8-C3EA-1829-31FB-9259B8F01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29A560A5-CEF0-8DC3-237A-E60BD5058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87DE52-0E68-76EB-2626-B3D3C3899457}"/>
              </a:ext>
            </a:extLst>
          </p:cNvPr>
          <p:cNvSpPr txBox="1"/>
          <p:nvPr/>
        </p:nvSpPr>
        <p:spPr>
          <a:xfrm>
            <a:off x="9526282" y="4229733"/>
            <a:ext cx="159903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Report to line manager with ease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8271A3B9-9D74-1455-386F-053036FAB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F1FE609C-5772-81A7-10D1-AE681EF4B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764775" y="2901134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0482E0A-C84B-8C01-6714-822CC1414DD1}"/>
              </a:ext>
            </a:extLst>
          </p:cNvPr>
          <p:cNvSpPr txBox="1"/>
          <p:nvPr/>
        </p:nvSpPr>
        <p:spPr>
          <a:xfrm>
            <a:off x="681570" y="2229239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Working 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sylos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D3AA84-494F-DE08-3301-DB5EF58BDE35}"/>
              </a:ext>
            </a:extLst>
          </p:cNvPr>
          <p:cNvSpPr txBox="1"/>
          <p:nvPr/>
        </p:nvSpPr>
        <p:spPr>
          <a:xfrm>
            <a:off x="600388" y="4335067"/>
            <a:ext cx="1650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Lack of focus on priorities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F6A6F9D1-DC3F-A676-A046-D42B1879B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594C5345-58DA-84E6-1823-136FDF39A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79FC765-EDE0-2172-D783-1A34CB476B6F}"/>
              </a:ext>
            </a:extLst>
          </p:cNvPr>
          <p:cNvSpPr txBox="1"/>
          <p:nvPr/>
        </p:nvSpPr>
        <p:spPr>
          <a:xfrm>
            <a:off x="3674642" y="2333850"/>
            <a:ext cx="20971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Tasks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4E9F5E13-087D-E9FC-E0FB-4464F1E20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C957FE-9905-92CE-9A52-BE844C131D6E}"/>
              </a:ext>
            </a:extLst>
          </p:cNvPr>
          <p:cNvSpPr txBox="1"/>
          <p:nvPr/>
        </p:nvSpPr>
        <p:spPr>
          <a:xfrm>
            <a:off x="7126093" y="4195558"/>
            <a:ext cx="142204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to deadlines and priority levels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A73F77A3-208D-55A5-E940-D28CFC83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E247F38-F2BF-F882-3879-494B2947D135}"/>
              </a:ext>
            </a:extLst>
          </p:cNvPr>
          <p:cNvSpPr txBox="1"/>
          <p:nvPr/>
        </p:nvSpPr>
        <p:spPr>
          <a:xfrm>
            <a:off x="10060472" y="2000810"/>
            <a:ext cx="166369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accountability and responsibility 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DC9A68-DF9F-92A7-3D16-C2273593A561}"/>
              </a:ext>
            </a:extLst>
          </p:cNvPr>
          <p:cNvSpPr txBox="1"/>
          <p:nvPr/>
        </p:nvSpPr>
        <p:spPr>
          <a:xfrm>
            <a:off x="5889201" y="2369535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Assign owners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1104D3-FEA3-3A4C-A5DA-0EC305BEDAC6}"/>
              </a:ext>
            </a:extLst>
          </p:cNvPr>
          <p:cNvSpPr txBox="1"/>
          <p:nvPr/>
        </p:nvSpPr>
        <p:spPr>
          <a:xfrm>
            <a:off x="3177910" y="4169849"/>
            <a:ext cx="155787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workload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E2F11D-68B4-383E-0E93-24E177C553F4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31991D3-DD04-3EF9-2934-FFD9DE1C04EC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EC97C62-3035-5FA3-A394-1BF42562FB7A}"/>
              </a:ext>
            </a:extLst>
          </p:cNvPr>
          <p:cNvSpPr txBox="1"/>
          <p:nvPr/>
        </p:nvSpPr>
        <p:spPr>
          <a:xfrm>
            <a:off x="11128928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2E845056-9496-636B-E1F3-AD16549FF0CE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title="Q lines">
            <a:extLst>
              <a:ext uri="{FF2B5EF4-FFF2-40B4-BE49-F238E27FC236}">
                <a16:creationId xmlns:a16="http://schemas.microsoft.com/office/drawing/2014/main" id="{2ACD4391-90C2-ECB8-0275-CE90029D1C82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 title="Q lines">
            <a:extLst>
              <a:ext uri="{FF2B5EF4-FFF2-40B4-BE49-F238E27FC236}">
                <a16:creationId xmlns:a16="http://schemas.microsoft.com/office/drawing/2014/main" id="{4B95F4BD-9CC0-290A-CD24-584E2BD2947E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CB0136A-C066-B088-B006-FEDDFFDD8CEE}"/>
              </a:ext>
            </a:extLst>
          </p:cNvPr>
          <p:cNvSpPr txBox="1"/>
          <p:nvPr/>
        </p:nvSpPr>
        <p:spPr>
          <a:xfrm>
            <a:off x="608070" y="296887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6" name="Group 95" title="Year 4">
            <a:extLst>
              <a:ext uri="{FF2B5EF4-FFF2-40B4-BE49-F238E27FC236}">
                <a16:creationId xmlns:a16="http://schemas.microsoft.com/office/drawing/2014/main" id="{E82C7A71-ED42-D664-6AFD-612B37666BA0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7" name="Straight Connector 96" title="Q lines">
              <a:extLst>
                <a:ext uri="{FF2B5EF4-FFF2-40B4-BE49-F238E27FC236}">
                  <a16:creationId xmlns:a16="http://schemas.microsoft.com/office/drawing/2014/main" id="{5C5F0DF3-F0E9-B728-AD1F-B5F5D4B1F9C0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F03636CF-64A2-6107-A789-FF4C18CB76D0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Arrow: Right 98" title="Year Arrow">
              <a:extLst>
                <a:ext uri="{FF2B5EF4-FFF2-40B4-BE49-F238E27FC236}">
                  <a16:creationId xmlns:a16="http://schemas.microsoft.com/office/drawing/2014/main" id="{8FB6D233-B659-DBB9-DFE9-E19D02B1ABFE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100" name="Straight Connector 99" title="Q lines">
              <a:extLst>
                <a:ext uri="{FF2B5EF4-FFF2-40B4-BE49-F238E27FC236}">
                  <a16:creationId xmlns:a16="http://schemas.microsoft.com/office/drawing/2014/main" id="{3B8DA2C8-0098-4A32-31F1-7E106EC601E2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30C337CA-2E5D-CD21-EBBA-421C9BAB5C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 title="Year 3">
            <a:extLst>
              <a:ext uri="{FF2B5EF4-FFF2-40B4-BE49-F238E27FC236}">
                <a16:creationId xmlns:a16="http://schemas.microsoft.com/office/drawing/2014/main" id="{CA1EE31C-5A55-C0F9-C4EE-A7A2FAA6D8FB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3" name="Straight Connector 102" title="Q lines">
              <a:extLst>
                <a:ext uri="{FF2B5EF4-FFF2-40B4-BE49-F238E27FC236}">
                  <a16:creationId xmlns:a16="http://schemas.microsoft.com/office/drawing/2014/main" id="{7CD2E0D2-DE2B-518B-F771-EFDAC42817F2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 title="Year Arrow">
              <a:extLst>
                <a:ext uri="{FF2B5EF4-FFF2-40B4-BE49-F238E27FC236}">
                  <a16:creationId xmlns:a16="http://schemas.microsoft.com/office/drawing/2014/main" id="{436EA547-1C41-D87E-D490-B0A2CE05B350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6" name="Straight Connector 105" title="Q lines">
              <a:extLst>
                <a:ext uri="{FF2B5EF4-FFF2-40B4-BE49-F238E27FC236}">
                  <a16:creationId xmlns:a16="http://schemas.microsoft.com/office/drawing/2014/main" id="{F95851F1-F78A-7F1E-76DB-44B876170446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 title="Q lines">
              <a:extLst>
                <a:ext uri="{FF2B5EF4-FFF2-40B4-BE49-F238E27FC236}">
                  <a16:creationId xmlns:a16="http://schemas.microsoft.com/office/drawing/2014/main" id="{81082B93-FE0E-C2B1-F246-750A555BF337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 title="Year 2">
            <a:extLst>
              <a:ext uri="{FF2B5EF4-FFF2-40B4-BE49-F238E27FC236}">
                <a16:creationId xmlns:a16="http://schemas.microsoft.com/office/drawing/2014/main" id="{36B15AF0-4E51-0522-3017-C70D13BAA50A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9" name="Arrow: Right 108" title="Year Arrow">
              <a:extLst>
                <a:ext uri="{FF2B5EF4-FFF2-40B4-BE49-F238E27FC236}">
                  <a16:creationId xmlns:a16="http://schemas.microsoft.com/office/drawing/2014/main" id="{B480F132-D09D-1DCA-D891-08FFE49D6F0B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E0EA3C85-6BD9-9749-2C4A-371987C36119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 title="Q lines">
              <a:extLst>
                <a:ext uri="{FF2B5EF4-FFF2-40B4-BE49-F238E27FC236}">
                  <a16:creationId xmlns:a16="http://schemas.microsoft.com/office/drawing/2014/main" id="{D9BB00FD-6106-EC45-15FB-3FCDECA951EA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49477E52-6CDC-71FD-A57C-881320F6D9B0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 title="Year 1">
            <a:extLst>
              <a:ext uri="{FF2B5EF4-FFF2-40B4-BE49-F238E27FC236}">
                <a16:creationId xmlns:a16="http://schemas.microsoft.com/office/drawing/2014/main" id="{877D91C1-89B9-6248-F2DB-DC51D607C7E1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E0BF91CC-DBBE-21E4-E5B5-46335CF84DD7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Arrow: Right 115" title="Year Arrow">
              <a:extLst>
                <a:ext uri="{FF2B5EF4-FFF2-40B4-BE49-F238E27FC236}">
                  <a16:creationId xmlns:a16="http://schemas.microsoft.com/office/drawing/2014/main" id="{DB3F351A-D67C-FD23-E0E1-960161EAF55A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75096C40-66E7-465B-526E-276F94F245DE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 title="Q lines">
              <a:extLst>
                <a:ext uri="{FF2B5EF4-FFF2-40B4-BE49-F238E27FC236}">
                  <a16:creationId xmlns:a16="http://schemas.microsoft.com/office/drawing/2014/main" id="{E4261348-1359-C7FB-D793-1A1835ADABA4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 title="Q lines">
              <a:extLst>
                <a:ext uri="{FF2B5EF4-FFF2-40B4-BE49-F238E27FC236}">
                  <a16:creationId xmlns:a16="http://schemas.microsoft.com/office/drawing/2014/main" id="{F8E2D658-E119-7C37-9F49-0DF23DDFC8E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 title="Quarter Number">
              <a:extLst>
                <a:ext uri="{FF2B5EF4-FFF2-40B4-BE49-F238E27FC236}">
                  <a16:creationId xmlns:a16="http://schemas.microsoft.com/office/drawing/2014/main" id="{7076DD30-3549-81E6-A8C8-24D08092CAAD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1" name="Group 120" title="Today Flag Icon">
            <a:extLst>
              <a:ext uri="{FF2B5EF4-FFF2-40B4-BE49-F238E27FC236}">
                <a16:creationId xmlns:a16="http://schemas.microsoft.com/office/drawing/2014/main" id="{D43627B5-7080-CB34-1028-80DEC3265E20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F7C5B4AD-228B-B6AC-9A0F-A1478F2D91FB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3" name="Graphic 122" title="Flag Icon">
              <a:extLst>
                <a:ext uri="{FF2B5EF4-FFF2-40B4-BE49-F238E27FC236}">
                  <a16:creationId xmlns:a16="http://schemas.microsoft.com/office/drawing/2014/main" id="{A29EF0CC-E223-D6AE-0E08-143FD631F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4" name="Graphic 123" descr="Flag outline">
            <a:extLst>
              <a:ext uri="{FF2B5EF4-FFF2-40B4-BE49-F238E27FC236}">
                <a16:creationId xmlns:a16="http://schemas.microsoft.com/office/drawing/2014/main" id="{54BAB359-3CD4-1BD9-0C15-7327F42D7D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8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639092" y="171299"/>
            <a:ext cx="11012131" cy="101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Eras Medium ITC" panose="020B0602030504020804" pitchFamily="34" charset="0"/>
              </a:rPr>
              <a:t>Calendar</a:t>
            </a:r>
            <a:endParaRPr lang="en-GB" dirty="0">
              <a:latin typeface="Eras Medium ITC" panose="020B0602030504020804" pitchFamily="34" charset="0"/>
            </a:endParaRPr>
          </a:p>
        </p:txBody>
      </p:sp>
      <p:pic>
        <p:nvPicPr>
          <p:cNvPr id="9" name="Picture 8" descr="Icon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70" y="5836232"/>
            <a:ext cx="1695537" cy="920797"/>
          </a:xfrm>
          <a:prstGeom prst="rect">
            <a:avLst/>
          </a:prstGeom>
        </p:spPr>
      </p:pic>
      <p:pic>
        <p:nvPicPr>
          <p:cNvPr id="5" name="Graphic 4" title="callout">
            <a:extLst>
              <a:ext uri="{FF2B5EF4-FFF2-40B4-BE49-F238E27FC236}">
                <a16:creationId xmlns:a16="http://schemas.microsoft.com/office/drawing/2014/main" id="{5C6DD41B-816E-7499-0F5A-2BA05C993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3310" y="3915499"/>
            <a:ext cx="581025" cy="295275"/>
          </a:xfrm>
          <a:prstGeom prst="rect">
            <a:avLst/>
          </a:prstGeom>
        </p:spPr>
      </p:pic>
      <p:pic>
        <p:nvPicPr>
          <p:cNvPr id="7" name="Graphic 6" title="callout">
            <a:extLst>
              <a:ext uri="{FF2B5EF4-FFF2-40B4-BE49-F238E27FC236}">
                <a16:creationId xmlns:a16="http://schemas.microsoft.com/office/drawing/2014/main" id="{EC8F6B86-15E8-BE36-B608-621285EDC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282716" y="2801036"/>
            <a:ext cx="581025" cy="295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23D9A6-BB37-8501-4A8E-79E5DED6EE6F}"/>
              </a:ext>
            </a:extLst>
          </p:cNvPr>
          <p:cNvSpPr txBox="1"/>
          <p:nvPr/>
        </p:nvSpPr>
        <p:spPr>
          <a:xfrm>
            <a:off x="4703228" y="4179878"/>
            <a:ext cx="1557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 incidents </a:t>
            </a:r>
          </a:p>
        </p:txBody>
      </p:sp>
      <p:pic>
        <p:nvPicPr>
          <p:cNvPr id="11" name="Graphic 10" title="callout">
            <a:extLst>
              <a:ext uri="{FF2B5EF4-FFF2-40B4-BE49-F238E27FC236}">
                <a16:creationId xmlns:a16="http://schemas.microsoft.com/office/drawing/2014/main" id="{C05704BE-075E-A626-B304-F985415AC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501016" y="3842283"/>
            <a:ext cx="581025" cy="295275"/>
          </a:xfrm>
          <a:prstGeom prst="rect">
            <a:avLst/>
          </a:prstGeom>
        </p:spPr>
      </p:pic>
      <p:pic>
        <p:nvPicPr>
          <p:cNvPr id="13" name="Graphic 12" title="callout">
            <a:extLst>
              <a:ext uri="{FF2B5EF4-FFF2-40B4-BE49-F238E27FC236}">
                <a16:creationId xmlns:a16="http://schemas.microsoft.com/office/drawing/2014/main" id="{090421FA-7078-D147-FAF2-48EAB9388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398965" y="3850759"/>
            <a:ext cx="581025" cy="29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8FC8F6-0D0B-FB58-6816-49E59E56DFDF}"/>
              </a:ext>
            </a:extLst>
          </p:cNvPr>
          <p:cNvSpPr txBox="1"/>
          <p:nvPr/>
        </p:nvSpPr>
        <p:spPr>
          <a:xfrm>
            <a:off x="8274385" y="2423296"/>
            <a:ext cx="172150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 meetings</a:t>
            </a:r>
          </a:p>
        </p:txBody>
      </p:sp>
      <p:pic>
        <p:nvPicPr>
          <p:cNvPr id="15" name="Graphic 14" title="callout">
            <a:extLst>
              <a:ext uri="{FF2B5EF4-FFF2-40B4-BE49-F238E27FC236}">
                <a16:creationId xmlns:a16="http://schemas.microsoft.com/office/drawing/2014/main" id="{DD2867B8-C3EA-1829-31FB-9259B8F01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66252" y="2801036"/>
            <a:ext cx="581025" cy="295275"/>
          </a:xfrm>
          <a:prstGeom prst="rect">
            <a:avLst/>
          </a:prstGeom>
        </p:spPr>
      </p:pic>
      <p:pic>
        <p:nvPicPr>
          <p:cNvPr id="18" name="Graphic 17" title="callout">
            <a:extLst>
              <a:ext uri="{FF2B5EF4-FFF2-40B4-BE49-F238E27FC236}">
                <a16:creationId xmlns:a16="http://schemas.microsoft.com/office/drawing/2014/main" id="{29A560A5-CEF0-8DC3-237A-E60BD5058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905068" y="3843291"/>
            <a:ext cx="581025" cy="295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87DE52-0E68-76EB-2626-B3D3C3899457}"/>
              </a:ext>
            </a:extLst>
          </p:cNvPr>
          <p:cNvSpPr txBox="1"/>
          <p:nvPr/>
        </p:nvSpPr>
        <p:spPr>
          <a:xfrm>
            <a:off x="9526282" y="4229733"/>
            <a:ext cx="159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Documentation reviews </a:t>
            </a:r>
          </a:p>
        </p:txBody>
      </p:sp>
      <p:pic>
        <p:nvPicPr>
          <p:cNvPr id="20" name="Graphic 19" title="callout">
            <a:extLst>
              <a:ext uri="{FF2B5EF4-FFF2-40B4-BE49-F238E27FC236}">
                <a16:creationId xmlns:a16="http://schemas.microsoft.com/office/drawing/2014/main" id="{8271A3B9-9D74-1455-386F-053036FAB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6844" y="2801036"/>
            <a:ext cx="581025" cy="295275"/>
          </a:xfrm>
          <a:prstGeom prst="rect">
            <a:avLst/>
          </a:prstGeom>
        </p:spPr>
      </p:pic>
      <p:pic>
        <p:nvPicPr>
          <p:cNvPr id="21" name="Graphic 20" title="callout">
            <a:extLst>
              <a:ext uri="{FF2B5EF4-FFF2-40B4-BE49-F238E27FC236}">
                <a16:creationId xmlns:a16="http://schemas.microsoft.com/office/drawing/2014/main" id="{F1FE609C-5772-81A7-10D1-AE681EF4B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764775" y="2901134"/>
            <a:ext cx="581025" cy="2952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0482E0A-C84B-8C01-6714-822CC1414DD1}"/>
              </a:ext>
            </a:extLst>
          </p:cNvPr>
          <p:cNvSpPr txBox="1"/>
          <p:nvPr/>
        </p:nvSpPr>
        <p:spPr>
          <a:xfrm>
            <a:off x="632296" y="1915527"/>
            <a:ext cx="165040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 diaries for meeting and work schedule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D3AA84-494F-DE08-3301-DB5EF58BDE35}"/>
              </a:ext>
            </a:extLst>
          </p:cNvPr>
          <p:cNvSpPr txBox="1"/>
          <p:nvPr/>
        </p:nvSpPr>
        <p:spPr>
          <a:xfrm>
            <a:off x="600388" y="4335067"/>
            <a:ext cx="16504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Lack of visibility </a:t>
            </a:r>
          </a:p>
        </p:txBody>
      </p:sp>
      <p:pic>
        <p:nvPicPr>
          <p:cNvPr id="49" name="Graphic 48" title="callout">
            <a:extLst>
              <a:ext uri="{FF2B5EF4-FFF2-40B4-BE49-F238E27FC236}">
                <a16:creationId xmlns:a16="http://schemas.microsoft.com/office/drawing/2014/main" id="{F6A6F9D1-DC3F-A676-A046-D42B1879B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14154" y="2859402"/>
            <a:ext cx="657299" cy="295275"/>
          </a:xfrm>
          <a:prstGeom prst="rect">
            <a:avLst/>
          </a:prstGeom>
        </p:spPr>
      </p:pic>
      <p:pic>
        <p:nvPicPr>
          <p:cNvPr id="50" name="Graphic 49" title="callout">
            <a:extLst>
              <a:ext uri="{FF2B5EF4-FFF2-40B4-BE49-F238E27FC236}">
                <a16:creationId xmlns:a16="http://schemas.microsoft.com/office/drawing/2014/main" id="{594C5345-58DA-84E6-1823-136FDF39A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524075" y="2833174"/>
            <a:ext cx="581025" cy="29527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79FC765-EDE0-2172-D783-1A34CB476B6F}"/>
              </a:ext>
            </a:extLst>
          </p:cNvPr>
          <p:cNvSpPr txBox="1"/>
          <p:nvPr/>
        </p:nvSpPr>
        <p:spPr>
          <a:xfrm>
            <a:off x="3674642" y="2333850"/>
            <a:ext cx="20971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 tasks</a:t>
            </a:r>
          </a:p>
        </p:txBody>
      </p:sp>
      <p:pic>
        <p:nvPicPr>
          <p:cNvPr id="52" name="Graphic 51" title="callout">
            <a:extLst>
              <a:ext uri="{FF2B5EF4-FFF2-40B4-BE49-F238E27FC236}">
                <a16:creationId xmlns:a16="http://schemas.microsoft.com/office/drawing/2014/main" id="{4E9F5E13-087D-E9FC-E0FB-4464F1E20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033808" y="3843291"/>
            <a:ext cx="581025" cy="2952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C957FE-9905-92CE-9A52-BE844C131D6E}"/>
              </a:ext>
            </a:extLst>
          </p:cNvPr>
          <p:cNvSpPr txBox="1"/>
          <p:nvPr/>
        </p:nvSpPr>
        <p:spPr>
          <a:xfrm>
            <a:off x="7126093" y="4195558"/>
            <a:ext cx="14220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Management meetings </a:t>
            </a: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A73F77A3-208D-55A5-E940-D28CFC83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40" y="2106534"/>
            <a:ext cx="795868" cy="5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E247F38-F2BF-F882-3879-494B2947D135}"/>
              </a:ext>
            </a:extLst>
          </p:cNvPr>
          <p:cNvSpPr txBox="1"/>
          <p:nvPr/>
        </p:nvSpPr>
        <p:spPr>
          <a:xfrm>
            <a:off x="10055433" y="2470320"/>
            <a:ext cx="16636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Personal diary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DC9A68-DF9F-92A7-3D16-C2273593A561}"/>
              </a:ext>
            </a:extLst>
          </p:cNvPr>
          <p:cNvSpPr txBox="1"/>
          <p:nvPr/>
        </p:nvSpPr>
        <p:spPr>
          <a:xfrm>
            <a:off x="5889201" y="2369535"/>
            <a:ext cx="15990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Risks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1104D3-FEA3-3A4C-A5DA-0EC305BEDAC6}"/>
              </a:ext>
            </a:extLst>
          </p:cNvPr>
          <p:cNvSpPr txBox="1"/>
          <p:nvPr/>
        </p:nvSpPr>
        <p:spPr>
          <a:xfrm>
            <a:off x="3177910" y="4169849"/>
            <a:ext cx="1557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visibility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785C6F-BFF7-20A6-D8D9-F473DA6CCDC7}"/>
              </a:ext>
            </a:extLst>
          </p:cNvPr>
          <p:cNvSpPr txBox="1"/>
          <p:nvPr/>
        </p:nvSpPr>
        <p:spPr>
          <a:xfrm>
            <a:off x="5495657" y="2948673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Points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45AD517-AE02-FFE8-CD6F-CEAC66C110C1}"/>
              </a:ext>
            </a:extLst>
          </p:cNvPr>
          <p:cNvSpPr txBox="1"/>
          <p:nvPr/>
        </p:nvSpPr>
        <p:spPr>
          <a:xfrm>
            <a:off x="8101822" y="2964954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Points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C34EFD9-9578-CCB0-B5CD-73D94C44D628}"/>
              </a:ext>
            </a:extLst>
          </p:cNvPr>
          <p:cNvSpPr txBox="1"/>
          <p:nvPr/>
        </p:nvSpPr>
        <p:spPr>
          <a:xfrm>
            <a:off x="11136903" y="2988289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Points</a:t>
            </a:r>
          </a:p>
        </p:txBody>
      </p:sp>
      <p:cxnSp>
        <p:nvCxnSpPr>
          <p:cNvPr id="90" name="Straight Connector 89" title="Q lines">
            <a:extLst>
              <a:ext uri="{FF2B5EF4-FFF2-40B4-BE49-F238E27FC236}">
                <a16:creationId xmlns:a16="http://schemas.microsoft.com/office/drawing/2014/main" id="{5EEF3A97-957C-628A-00C2-84DFFFB5017E}"/>
              </a:ext>
            </a:extLst>
          </p:cNvPr>
          <p:cNvCxnSpPr>
            <a:cxnSpLocks/>
          </p:cNvCxnSpPr>
          <p:nvPr/>
        </p:nvCxnSpPr>
        <p:spPr>
          <a:xfrm>
            <a:off x="891306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title="Q lines">
            <a:extLst>
              <a:ext uri="{FF2B5EF4-FFF2-40B4-BE49-F238E27FC236}">
                <a16:creationId xmlns:a16="http://schemas.microsoft.com/office/drawing/2014/main" id="{3CA22A04-9FBD-1D9F-8D3D-831AC802B85C}"/>
              </a:ext>
            </a:extLst>
          </p:cNvPr>
          <p:cNvCxnSpPr>
            <a:cxnSpLocks/>
          </p:cNvCxnSpPr>
          <p:nvPr/>
        </p:nvCxnSpPr>
        <p:spPr>
          <a:xfrm>
            <a:off x="5792022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 title="Q lines">
            <a:extLst>
              <a:ext uri="{FF2B5EF4-FFF2-40B4-BE49-F238E27FC236}">
                <a16:creationId xmlns:a16="http://schemas.microsoft.com/office/drawing/2014/main" id="{E01754FB-F99C-0BB4-CE0E-28A8E7AA4647}"/>
              </a:ext>
            </a:extLst>
          </p:cNvPr>
          <p:cNvCxnSpPr>
            <a:cxnSpLocks/>
          </p:cNvCxnSpPr>
          <p:nvPr/>
        </p:nvCxnSpPr>
        <p:spPr>
          <a:xfrm>
            <a:off x="8386327" y="3119046"/>
            <a:ext cx="0" cy="165471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C982AE0-AB02-6354-E216-493E9710C627}"/>
              </a:ext>
            </a:extLst>
          </p:cNvPr>
          <p:cNvSpPr txBox="1"/>
          <p:nvPr/>
        </p:nvSpPr>
        <p:spPr>
          <a:xfrm>
            <a:off x="595954" y="2946425"/>
            <a:ext cx="569010" cy="23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Points</a:t>
            </a:r>
          </a:p>
        </p:txBody>
      </p:sp>
      <p:grpSp>
        <p:nvGrpSpPr>
          <p:cNvPr id="96" name="Group 95" title="Year 4">
            <a:extLst>
              <a:ext uri="{FF2B5EF4-FFF2-40B4-BE49-F238E27FC236}">
                <a16:creationId xmlns:a16="http://schemas.microsoft.com/office/drawing/2014/main" id="{99B1E40E-584D-3301-5EF6-402EA23E0B21}"/>
              </a:ext>
            </a:extLst>
          </p:cNvPr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97" name="Straight Connector 96" title="Q lines">
              <a:extLst>
                <a:ext uri="{FF2B5EF4-FFF2-40B4-BE49-F238E27FC236}">
                  <a16:creationId xmlns:a16="http://schemas.microsoft.com/office/drawing/2014/main" id="{020A6324-3783-D576-FD6B-9455F59B11CE}"/>
                </a:ext>
              </a:extLst>
            </p:cNvPr>
            <p:cNvCxnSpPr>
              <a:cxnSpLocks/>
            </p:cNvCxnSpPr>
            <p:nvPr/>
          </p:nvCxnSpPr>
          <p:spPr>
            <a:xfrm>
              <a:off x="1078575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 title="Q lines">
              <a:extLst>
                <a:ext uri="{FF2B5EF4-FFF2-40B4-BE49-F238E27FC236}">
                  <a16:creationId xmlns:a16="http://schemas.microsoft.com/office/drawing/2014/main" id="{65DDE240-F92C-E19C-837E-50F8B81F9867}"/>
                </a:ext>
              </a:extLst>
            </p:cNvPr>
            <p:cNvCxnSpPr>
              <a:cxnSpLocks/>
            </p:cNvCxnSpPr>
            <p:nvPr/>
          </p:nvCxnSpPr>
          <p:spPr>
            <a:xfrm>
              <a:off x="9481202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Arrow: Right 98" title="Year Arrow">
              <a:extLst>
                <a:ext uri="{FF2B5EF4-FFF2-40B4-BE49-F238E27FC236}">
                  <a16:creationId xmlns:a16="http://schemas.microsoft.com/office/drawing/2014/main" id="{79091B57-CE96-B10E-4D7A-56B63C1DCA18}"/>
                </a:ext>
              </a:extLst>
            </p:cNvPr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Optimised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cxnSp>
          <p:nvCxnSpPr>
            <p:cNvPr id="100" name="Straight Connector 99" title="Q lines">
              <a:extLst>
                <a:ext uri="{FF2B5EF4-FFF2-40B4-BE49-F238E27FC236}">
                  <a16:creationId xmlns:a16="http://schemas.microsoft.com/office/drawing/2014/main" id="{21C6BE57-7156-5151-062A-BE2C5080D20E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100" y="3145249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 title="Q lines">
              <a:extLst>
                <a:ext uri="{FF2B5EF4-FFF2-40B4-BE49-F238E27FC236}">
                  <a16:creationId xmlns:a16="http://schemas.microsoft.com/office/drawing/2014/main" id="{D3B8372E-CFEF-B4BB-D13E-DFF8F0FE71A3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 title="Year 3">
            <a:extLst>
              <a:ext uri="{FF2B5EF4-FFF2-40B4-BE49-F238E27FC236}">
                <a16:creationId xmlns:a16="http://schemas.microsoft.com/office/drawing/2014/main" id="{59A081E0-0F43-1F79-DA76-76109E60A555}"/>
              </a:ext>
            </a:extLst>
          </p:cNvPr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grpSpPr>
        <p:cxnSp>
          <p:nvCxnSpPr>
            <p:cNvPr id="103" name="Straight Connector 102" title="Q lines">
              <a:extLst>
                <a:ext uri="{FF2B5EF4-FFF2-40B4-BE49-F238E27FC236}">
                  <a16:creationId xmlns:a16="http://schemas.microsoft.com/office/drawing/2014/main" id="{3BA60091-7CD1-77B9-9D0B-137F077515F3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90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 title="Year Arrow">
              <a:extLst>
                <a:ext uri="{FF2B5EF4-FFF2-40B4-BE49-F238E27FC236}">
                  <a16:creationId xmlns:a16="http://schemas.microsoft.com/office/drawing/2014/main" id="{A9588EF9-31C1-B351-CD92-49A00518C4E4}"/>
                </a:ext>
              </a:extLst>
            </p:cNvPr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Active</a:t>
              </a:r>
              <a:endParaRPr lang="en-US" sz="1600" dirty="0"/>
            </a:p>
          </p:txBody>
        </p:sp>
        <p:cxnSp>
          <p:nvCxnSpPr>
            <p:cNvPr id="106" name="Straight Connector 105" title="Q lines">
              <a:extLst>
                <a:ext uri="{FF2B5EF4-FFF2-40B4-BE49-F238E27FC236}">
                  <a16:creationId xmlns:a16="http://schemas.microsoft.com/office/drawing/2014/main" id="{6CCDF8BC-0DC9-2E61-F635-5F5D9822BB9A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 title="Q lines">
              <a:extLst>
                <a:ext uri="{FF2B5EF4-FFF2-40B4-BE49-F238E27FC236}">
                  <a16:creationId xmlns:a16="http://schemas.microsoft.com/office/drawing/2014/main" id="{7F3ADAFD-7C4B-D3FB-66A1-04F58F292BF4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119046"/>
              <a:ext cx="0" cy="165471"/>
            </a:xfrm>
            <a:prstGeom prst="line">
              <a:avLst/>
            </a:prstGeom>
            <a:grpFill/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 title="Year 2">
            <a:extLst>
              <a:ext uri="{FF2B5EF4-FFF2-40B4-BE49-F238E27FC236}">
                <a16:creationId xmlns:a16="http://schemas.microsoft.com/office/drawing/2014/main" id="{07059095-790E-A010-ED30-C9646BCCDE9B}"/>
              </a:ext>
            </a:extLst>
          </p:cNvPr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109" name="Arrow: Right 108" title="Year Arrow">
              <a:extLst>
                <a:ext uri="{FF2B5EF4-FFF2-40B4-BE49-F238E27FC236}">
                  <a16:creationId xmlns:a16="http://schemas.microsoft.com/office/drawing/2014/main" id="{D79EF272-92F6-F8E4-8A64-604C7FBBFDE2}"/>
                </a:ext>
              </a:extLst>
            </p:cNvPr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</a:t>
              </a:r>
              <a:endParaRPr lang="en-US" sz="1600" dirty="0"/>
            </a:p>
          </p:txBody>
        </p:sp>
        <p:cxnSp>
          <p:nvCxnSpPr>
            <p:cNvPr id="111" name="Straight Connector 110" title="Q lines">
              <a:extLst>
                <a:ext uri="{FF2B5EF4-FFF2-40B4-BE49-F238E27FC236}">
                  <a16:creationId xmlns:a16="http://schemas.microsoft.com/office/drawing/2014/main" id="{E556FAE3-2843-E9F3-1973-21E1B9B81AF9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5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 title="Q lines">
              <a:extLst>
                <a:ext uri="{FF2B5EF4-FFF2-40B4-BE49-F238E27FC236}">
                  <a16:creationId xmlns:a16="http://schemas.microsoft.com/office/drawing/2014/main" id="{407D94AB-D0D6-C5AE-0A32-7D2D300F5E06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7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 title="Q lines">
              <a:extLst>
                <a:ext uri="{FF2B5EF4-FFF2-40B4-BE49-F238E27FC236}">
                  <a16:creationId xmlns:a16="http://schemas.microsoft.com/office/drawing/2014/main" id="{5AC44EBD-1304-1B02-C0BC-57EB73160756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1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 title="Year 1">
            <a:extLst>
              <a:ext uri="{FF2B5EF4-FFF2-40B4-BE49-F238E27FC236}">
                <a16:creationId xmlns:a16="http://schemas.microsoft.com/office/drawing/2014/main" id="{1405DEA1-CC0D-5338-C3C2-7EC11F099406}"/>
              </a:ext>
            </a:extLst>
          </p:cNvPr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115" name="Straight Connector 114" title="Q lines">
              <a:extLst>
                <a:ext uri="{FF2B5EF4-FFF2-40B4-BE49-F238E27FC236}">
                  <a16:creationId xmlns:a16="http://schemas.microsoft.com/office/drawing/2014/main" id="{70F7FB9C-7CF7-CD5C-810E-DFEEA7D18101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0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Arrow: Right 115" title="Year Arrow">
              <a:extLst>
                <a:ext uri="{FF2B5EF4-FFF2-40B4-BE49-F238E27FC236}">
                  <a16:creationId xmlns:a16="http://schemas.microsoft.com/office/drawing/2014/main" id="{6A9E3142-2B6F-FD4F-A113-F226368C0B0C}"/>
                </a:ext>
              </a:extLst>
            </p:cNvPr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name="adj1" fmla="val 100000"/>
                <a:gd name="adj2" fmla="val 5000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Manual</a:t>
              </a:r>
              <a:endParaRPr lang="en-US" sz="1600" dirty="0"/>
            </a:p>
          </p:txBody>
        </p:sp>
        <p:cxnSp>
          <p:nvCxnSpPr>
            <p:cNvPr id="117" name="Straight Connector 116" title="Q lines">
              <a:extLst>
                <a:ext uri="{FF2B5EF4-FFF2-40B4-BE49-F238E27FC236}">
                  <a16:creationId xmlns:a16="http://schemas.microsoft.com/office/drawing/2014/main" id="{D2B9AF9E-560D-DCDD-AD1A-FB3D234E4740}"/>
                </a:ext>
              </a:extLst>
            </p:cNvPr>
            <p:cNvCxnSpPr>
              <a:cxnSpLocks/>
            </p:cNvCxnSpPr>
            <p:nvPr/>
          </p:nvCxnSpPr>
          <p:spPr>
            <a:xfrm>
              <a:off x="891306" y="3119046"/>
              <a:ext cx="0" cy="165471"/>
            </a:xfrm>
            <a:prstGeom prst="line">
              <a:avLst/>
            </a:prstGeom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 title="Q lines">
              <a:extLst>
                <a:ext uri="{FF2B5EF4-FFF2-40B4-BE49-F238E27FC236}">
                  <a16:creationId xmlns:a16="http://schemas.microsoft.com/office/drawing/2014/main" id="{F9CFCF84-33B3-24DC-6B63-07188EDE21E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59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 title="Q lines">
              <a:extLst>
                <a:ext uri="{FF2B5EF4-FFF2-40B4-BE49-F238E27FC236}">
                  <a16:creationId xmlns:a16="http://schemas.microsoft.com/office/drawing/2014/main" id="{D55C89EE-23A0-3669-6754-28BA83F01F91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1" y="311904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 title="Quarter Number">
              <a:extLst>
                <a:ext uri="{FF2B5EF4-FFF2-40B4-BE49-F238E27FC236}">
                  <a16:creationId xmlns:a16="http://schemas.microsoft.com/office/drawing/2014/main" id="{102E510A-A4FE-9047-FBF8-90EC5673A21E}"/>
                </a:ext>
              </a:extLst>
            </p:cNvPr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1" name="Group 120" title="Today Flag Icon">
            <a:extLst>
              <a:ext uri="{FF2B5EF4-FFF2-40B4-BE49-F238E27FC236}">
                <a16:creationId xmlns:a16="http://schemas.microsoft.com/office/drawing/2014/main" id="{20768997-63D6-C758-40E5-216086C2BA4D}"/>
              </a:ext>
            </a:extLst>
          </p:cNvPr>
          <p:cNvGrpSpPr/>
          <p:nvPr/>
        </p:nvGrpSpPr>
        <p:grpSpPr>
          <a:xfrm>
            <a:off x="11620093" y="3273124"/>
            <a:ext cx="407673" cy="407673"/>
            <a:chOff x="10636741" y="2652807"/>
            <a:chExt cx="296963" cy="296963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A6828B7-F1B4-D790-26FD-753CDFD3187E}"/>
                </a:ext>
              </a:extLst>
            </p:cNvPr>
            <p:cNvSpPr/>
            <p:nvPr/>
          </p:nvSpPr>
          <p:spPr>
            <a:xfrm>
              <a:off x="10636741" y="2652807"/>
              <a:ext cx="296963" cy="29696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92D050"/>
              </a:solidFill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23" name="Graphic 122" title="Flag Icon">
              <a:extLst>
                <a:ext uri="{FF2B5EF4-FFF2-40B4-BE49-F238E27FC236}">
                  <a16:creationId xmlns:a16="http://schemas.microsoft.com/office/drawing/2014/main" id="{1A62DF56-4D3E-D0CF-249F-BF6CDC1CF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0816" y="2716810"/>
              <a:ext cx="149367" cy="168956"/>
            </a:xfrm>
            <a:prstGeom prst="rect">
              <a:avLst/>
            </a:prstGeom>
          </p:spPr>
        </p:pic>
      </p:grpSp>
      <p:pic>
        <p:nvPicPr>
          <p:cNvPr id="124" name="Graphic 123" descr="Flag outline">
            <a:extLst>
              <a:ext uri="{FF2B5EF4-FFF2-40B4-BE49-F238E27FC236}">
                <a16:creationId xmlns:a16="http://schemas.microsoft.com/office/drawing/2014/main" id="{7A13ED09-487D-A3C5-FA87-5307B8E846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967" y="3345944"/>
            <a:ext cx="354471" cy="3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1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7726261" y="2338075"/>
            <a:ext cx="4387389" cy="22423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12192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latin typeface="Eras Demi ITC" panose="020B0805030504020804" pitchFamily="34" charset="0"/>
              </a:rPr>
              <a:t>Thank You</a:t>
            </a:r>
          </a:p>
        </p:txBody>
      </p:sp>
      <p:pic>
        <p:nvPicPr>
          <p:cNvPr id="6" name="Picture 5" descr="A picture containing text, clipart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644" y="6314312"/>
            <a:ext cx="3048006" cy="420625"/>
          </a:xfrm>
          <a:prstGeom prst="rect">
            <a:avLst/>
          </a:prstGeom>
        </p:spPr>
      </p:pic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938" y="0"/>
            <a:ext cx="1698712" cy="1152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Eras Demi ITC</vt:lpstr>
      <vt:lpstr>Eras Medium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Riad Hossain</cp:lastModifiedBy>
  <cp:revision>10</cp:revision>
  <dcterms:created xsi:type="dcterms:W3CDTF">2021-11-16T08:37:00Z</dcterms:created>
  <dcterms:modified xsi:type="dcterms:W3CDTF">2022-07-07T15:00:42Z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12400006813041AE8997BDE8BB066E14</vt:lpwstr>
  </property>
  <property fmtid="{D5CDD505-2E9C-101B-9397-08002B2CF9AE}" pid="3" name="KSOProductBuildVer">
    <vt:lpwstr>2057-11.2.0.11156</vt:lpwstr>
  </property>
</Properties>
</file>